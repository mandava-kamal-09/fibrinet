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1" Type="http://schemas.openxmlformats.org/officeDocument/2006/relationships/viewProps" Target="viewProps.xml" /><Relationship Id="rId30" Type="http://schemas.openxmlformats.org/officeDocument/2006/relationships/presProps" Target="presProps.xml" /><Relationship Id="rId1" Type="http://schemas.openxmlformats.org/officeDocument/2006/relationships/slideMaster" Target="slideMasters/slideMaster1.xml" /><Relationship Id="rId33" Type="http://schemas.openxmlformats.org/officeDocument/2006/relationships/tableStyles" Target="tableStyles.xml" /><Relationship Id="rId32"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slide" Target="slide4.xml" /><Relationship Id="rId3" Type="http://schemas.openxmlformats.org/officeDocument/2006/relationships/slide" Target="slide5.xml" /><Relationship Id="rId4" Type="http://schemas.openxmlformats.org/officeDocument/2006/relationships/slide" Target="slide6.xml" /><Relationship Id="rId5" Type="http://schemas.openxmlformats.org/officeDocument/2006/relationships/slide" Target="slide7.xml" /><Relationship Id="rId6" Type="http://schemas.openxmlformats.org/officeDocument/2006/relationships/slide" Target="slide8.xml" /><Relationship Id="rId7" Type="http://schemas.openxmlformats.org/officeDocument/2006/relationships/slide" Target="slide17.xml" /><Relationship Id="rId8" Type="http://schemas.openxmlformats.org/officeDocument/2006/relationships/slide" Target="slide18.xml" /><Relationship Id="rId9" Type="http://schemas.openxmlformats.org/officeDocument/2006/relationships/slide" Target="slide19.xml" /><Relationship Id="rId10" Type="http://schemas.openxmlformats.org/officeDocument/2006/relationships/slide" Target="slide23.xml" /><Relationship Id="rId11" Type="http://schemas.openxmlformats.org/officeDocument/2006/relationships/slide" Target="slide24.xml" /><Relationship Id="rId12" Type="http://schemas.openxmlformats.org/officeDocument/2006/relationships/slide" Target="slide25.xml" /><Relationship Id="rId13" Type="http://schemas.openxmlformats.org/officeDocument/2006/relationships/slide" Target="slide26.xml" /><Relationship Id="rId14" Type="http://schemas.openxmlformats.org/officeDocument/2006/relationships/slide" Target="slide27.xml" /><Relationship Id="rId15" Type="http://schemas.openxmlformats.org/officeDocument/2006/relationships/slide" Target="slide28.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png" /></Relationships>
</file>

<file path=ppt/slides/_rels/slide1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png"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8.png" /></Relationships>
</file>

<file path=ppt/slides/_rels/slide2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9.png" /></Relationships>
</file>

<file path=ppt/slides/_rels/slide21.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0.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Fibrinolysis_Regression</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r>
              <a:rPr/>
              <a:t>Kamal Mandava</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Table of Contents</a:t>
            </a:r>
          </a:p>
        </p:txBody>
      </p:sp>
      <p:sp>
        <p:nvSpPr>
          <p:cNvPr id="3" name="Content Placeholder 2"/>
          <p:cNvSpPr>
            <a:spLocks noGrp="1"/>
          </p:cNvSpPr>
          <p:nvPr>
            <p:ph idx="1"/>
          </p:nvPr>
        </p:nvSpPr>
        <p:spPr/>
        <p:txBody>
          <a:bodyPr/>
          <a:lstStyle/>
          <a:p>
            <a:pPr lvl="0"/>
            <a:r>
              <a:rPr>
                <a:hlinkClick r:id="rId2" action="ppaction://hlinksldjump"/>
              </a:rPr>
              <a:t>Introduction</a:t>
            </a:r>
          </a:p>
          <a:p>
            <a:pPr lvl="1"/>
            <a:r>
              <a:rPr>
                <a:hlinkClick r:id="rId3" action="ppaction://hlinksldjump"/>
              </a:rPr>
              <a:t>Motivation</a:t>
            </a:r>
          </a:p>
          <a:p>
            <a:pPr lvl="1"/>
            <a:r>
              <a:rPr>
                <a:hlinkClick r:id="rId4" action="ppaction://hlinksldjump"/>
              </a:rPr>
              <a:t>Research Questions</a:t>
            </a:r>
          </a:p>
          <a:p>
            <a:pPr lvl="1"/>
            <a:r>
              <a:rPr>
                <a:hlinkClick r:id="rId5" action="ppaction://hlinksldjump"/>
              </a:rPr>
              <a:t>Dataset Description</a:t>
            </a:r>
          </a:p>
          <a:p>
            <a:pPr lvl="0"/>
            <a:r>
              <a:rPr>
                <a:hlinkClick r:id="rId6" action="ppaction://hlinksldjump"/>
              </a:rPr>
              <a:t>Results</a:t>
            </a:r>
          </a:p>
          <a:p>
            <a:pPr lvl="1"/>
            <a:r>
              <a:rPr>
                <a:hlinkClick r:id="rId7" action="ppaction://hlinksldjump"/>
              </a:rPr>
              <a:t>Global F-Test and Model Summary</a:t>
            </a:r>
          </a:p>
          <a:p>
            <a:pPr lvl="1"/>
            <a:r>
              <a:rPr>
                <a:hlinkClick r:id="rId8" action="ppaction://hlinksldjump"/>
              </a:rPr>
              <a:t>Regression Equation</a:t>
            </a:r>
          </a:p>
          <a:p>
            <a:pPr lvl="1"/>
            <a:r>
              <a:rPr>
                <a:hlinkClick r:id="rId9" action="ppaction://hlinksldjump"/>
              </a:rPr>
              <a:t>Interpretation of Individual Coefficients</a:t>
            </a:r>
          </a:p>
          <a:p>
            <a:pPr lvl="1"/>
            <a:r>
              <a:rPr>
                <a:hlinkClick r:id="rId10" action="ppaction://hlinksldjump"/>
              </a:rPr>
              <a:t>Residual Analysis Summary</a:t>
            </a:r>
          </a:p>
          <a:p>
            <a:pPr lvl="0"/>
            <a:r>
              <a:rPr>
                <a:hlinkClick r:id="rId11" action="ppaction://hlinksldjump"/>
              </a:rPr>
              <a:t>Discussion</a:t>
            </a:r>
          </a:p>
          <a:p>
            <a:pPr lvl="1"/>
            <a:r>
              <a:rPr>
                <a:hlinkClick r:id="rId12" action="ppaction://hlinksldjump"/>
              </a:rPr>
              <a:t>Main Findings and Concluding Remarks</a:t>
            </a:r>
          </a:p>
          <a:p>
            <a:pPr lvl="1"/>
            <a:r>
              <a:rPr>
                <a:hlinkClick r:id="rId13" action="ppaction://hlinksldjump"/>
              </a:rPr>
              <a:t>Limitations of the Analysis</a:t>
            </a:r>
          </a:p>
          <a:p>
            <a:pPr lvl="1"/>
            <a:r>
              <a:rPr>
                <a:hlinkClick r:id="rId14" action="ppaction://hlinksldjump"/>
              </a:rPr>
              <a:t>What Would Be Done Differently</a:t>
            </a:r>
          </a:p>
          <a:p>
            <a:pPr lvl="1"/>
            <a:r>
              <a:rPr>
                <a:hlinkClick r:id="rId15" action="ppaction://hlinksldjump"/>
              </a:rPr>
              <a:t>Future Research Directions</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a:buNone/>
            </a:pPr>
            <a:r>
              <a:rPr>
                <a:solidFill>
                  <a:srgbClr val="06287E"/>
                </a:solidFill>
                <a:latin typeface="Courier"/>
              </a:rPr>
              <a:t>library</a:t>
            </a:r>
            <a:r>
              <a:rPr>
                <a:latin typeface="Courier"/>
              </a:rPr>
              <a:t>(car)</a:t>
            </a:r>
          </a:p>
          <a:p>
            <a:pPr lvl="0" indent="0">
              <a:buNone/>
            </a:pPr>
            <a:r>
              <a:rPr>
                <a:latin typeface="Courier"/>
              </a:rPr>
              <a:t>## Loading required package: carData</a:t>
            </a:r>
          </a:p>
          <a:p>
            <a:pPr lvl="0" indent="0">
              <a:buNone/>
            </a:pPr>
            <a:r>
              <a:rPr>
                <a:solidFill>
                  <a:srgbClr val="06287E"/>
                </a:solidFill>
                <a:latin typeface="Courier"/>
              </a:rPr>
              <a:t>library</a:t>
            </a:r>
            <a:r>
              <a:rPr>
                <a:latin typeface="Courier"/>
              </a:rPr>
              <a:t>(MASS)</a:t>
            </a:r>
            <a:br/>
            <a:r>
              <a:rPr>
                <a:solidFill>
                  <a:srgbClr val="06287E"/>
                </a:solidFill>
                <a:latin typeface="Courier"/>
              </a:rPr>
              <a:t>library</a:t>
            </a:r>
            <a:r>
              <a:rPr>
                <a:latin typeface="Courier"/>
              </a:rPr>
              <a:t>(leaps)</a:t>
            </a:r>
            <a:br/>
            <a:r>
              <a:rPr>
                <a:solidFill>
                  <a:srgbClr val="06287E"/>
                </a:solidFill>
                <a:latin typeface="Courier"/>
              </a:rPr>
              <a:t>library</a:t>
            </a:r>
            <a:r>
              <a:rPr>
                <a:latin typeface="Courier"/>
              </a:rPr>
              <a:t>(psych)</a:t>
            </a:r>
          </a:p>
          <a:p>
            <a:pPr lvl="0" indent="0">
              <a:buNone/>
            </a:pPr>
            <a:r>
              <a:rPr>
                <a:latin typeface="Courier"/>
              </a:rPr>
              <a:t>## Warning: package 'psych' was built under R version 4.5.2</a:t>
            </a:r>
          </a:p>
          <a:p>
            <a:pPr lvl="0" indent="0">
              <a:buNone/>
            </a:pPr>
            <a:r>
              <a:rPr>
                <a:latin typeface="Courier"/>
              </a:rPr>
              <a:t>## 
## Attaching package: 'psych'</a:t>
            </a:r>
          </a:p>
          <a:p>
            <a:pPr lvl="0" indent="0">
              <a:buNone/>
            </a:pPr>
            <a:r>
              <a:rPr>
                <a:latin typeface="Courier"/>
              </a:rPr>
              <a:t>## The following object is masked from 'package:car':
## 
##     logit</a:t>
            </a:r>
          </a:p>
          <a:p>
            <a:pPr lvl="0" indent="0">
              <a:buNone/>
            </a:pPr>
            <a:r>
              <a:rPr>
                <a:solidFill>
                  <a:srgbClr val="06287E"/>
                </a:solidFill>
                <a:latin typeface="Courier"/>
              </a:rPr>
              <a:t>library</a:t>
            </a:r>
            <a:r>
              <a:rPr>
                <a:latin typeface="Courier"/>
              </a:rPr>
              <a:t>(corrplot)</a:t>
            </a:r>
          </a:p>
          <a:p>
            <a:pPr lvl="0" indent="0">
              <a:buNone/>
            </a:pPr>
            <a:r>
              <a:rPr>
                <a:latin typeface="Courier"/>
              </a:rPr>
              <a:t>## Warning: package 'corrplot' was built under R version 4.5.2</a:t>
            </a:r>
          </a:p>
          <a:p>
            <a:pPr lvl="0" indent="0">
              <a:buNone/>
            </a:pPr>
            <a:r>
              <a:rPr>
                <a:latin typeface="Courier"/>
              </a:rPr>
              <a:t>## corrplot 0.95 loaded</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Introduction</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Motivation</a:t>
            </a:r>
          </a:p>
        </p:txBody>
      </p:sp>
      <p:sp>
        <p:nvSpPr>
          <p:cNvPr id="3" name="Content Placeholder 2"/>
          <p:cNvSpPr>
            <a:spLocks noGrp="1"/>
          </p:cNvSpPr>
          <p:nvPr>
            <p:ph idx="1"/>
          </p:nvPr>
        </p:nvSpPr>
        <p:spPr/>
        <p:txBody>
          <a:bodyPr/>
          <a:lstStyle/>
          <a:p>
            <a:pPr lvl="0" indent="0" marL="0">
              <a:buNone/>
            </a:pPr>
            <a:r>
              <a:rPr/>
              <a:t>Fibrinolysis is a process that involves the breakdown of blood clots, which is essential for maintaining proper blood flow. Understanding the relationship between various biochemical parameters and the rate of fibrinolysis has significant implications for both clinical medicine and pharmaceutical research. By modeling how different kinetic constants and binding affinities influence the median lysis time, we can gain insights into the underlying mechanisms of clot dissolution and potentially identify key factors that could be targeted for therapeutic interventions.</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Research Questions</a:t>
            </a:r>
          </a:p>
        </p:txBody>
      </p:sp>
      <p:sp>
        <p:nvSpPr>
          <p:cNvPr id="3" name="Content Placeholder 2"/>
          <p:cNvSpPr>
            <a:spLocks noGrp="1"/>
          </p:cNvSpPr>
          <p:nvPr>
            <p:ph idx="1"/>
          </p:nvPr>
        </p:nvSpPr>
        <p:spPr/>
        <p:txBody>
          <a:bodyPr/>
          <a:lstStyle/>
          <a:p>
            <a:pPr lvl="0" indent="0" marL="0">
              <a:buNone/>
            </a:pPr>
            <a:r>
              <a:rPr/>
              <a:t>This analysis seeks to answer several important questions:</a:t>
            </a:r>
          </a:p>
          <a:p>
            <a:pPr lvl="0" indent="-342900" marL="342900">
              <a:buAutoNum type="arabicPeriod"/>
            </a:pPr>
            <a:r>
              <a:rPr/>
              <a:t>Which biochemical parameters (kinetic constants and binding affinities) are most predictive of median lysis time?</a:t>
            </a:r>
          </a:p>
          <a:p>
            <a:pPr lvl="0" indent="-342900" marL="342900">
              <a:buAutoNum type="arabicPeriod"/>
            </a:pPr>
            <a:r>
              <a:rPr/>
              <a:t>Can we develop a reliable statistical model to predict fibrinolysis rates based on these chemical affinity variables?</a:t>
            </a:r>
          </a:p>
          <a:p>
            <a:pPr lvl="0" indent="-342900" marL="342900">
              <a:buAutoNum type="arabicPeriod"/>
            </a:pPr>
            <a:r>
              <a:rPr/>
              <a:t>How do transformations of the variables affect the model’s predictive power and interpretability?</a:t>
            </a:r>
          </a:p>
          <a:p>
            <a:pPr lvl="0" indent="-342900" marL="342900">
              <a:buAutoNum type="arabicPeriod"/>
            </a:pPr>
            <a:r>
              <a:rPr/>
              <a:t>What is the relative importance of different parameters in determining fibrinolysis outcomes?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Dataset Description</a:t>
            </a:r>
          </a:p>
        </p:txBody>
      </p:sp>
      <p:sp>
        <p:nvSpPr>
          <p:cNvPr id="3" name="Content Placeholder 2"/>
          <p:cNvSpPr>
            <a:spLocks noGrp="1"/>
          </p:cNvSpPr>
          <p:nvPr>
            <p:ph idx="1"/>
          </p:nvPr>
        </p:nvSpPr>
        <p:spPr/>
        <p:txBody>
          <a:bodyPr/>
          <a:lstStyle/>
          <a:p>
            <a:pPr lvl="0" indent="0" marL="0">
              <a:buNone/>
            </a:pPr>
            <a:r>
              <a:rPr/>
              <a:t>The dataset contains measurements from 42 experimental observations, each with 9 independent variables representing various kinetic constants and binding affinities related to the fibrinolysis process. These include parameters such as the rate constant for tissue plasminogen activator (tPA) binding, plasminogen activation rates, dissociation constants for various protein complexes, and the snap proportion. The dependent variable of interest is the median lysis time, which represents the time taken for clot dissolution under specific experimental conditions.</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Results</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ReadCSV</a:t>
            </a:r>
          </a:p>
          <a:p>
            <a:pPr lvl="0" indent="0">
              <a:buNone/>
            </a:pPr>
            <a:r>
              <a:rPr>
                <a:latin typeface="Courier"/>
              </a:rPr>
              <a:t>lysis </a:t>
            </a:r>
            <a:r>
              <a:rPr>
                <a:solidFill>
                  <a:srgbClr val="007020"/>
                </a:solidFill>
                <a:latin typeface="Courier"/>
              </a:rPr>
              <a:t>&lt;-</a:t>
            </a:r>
            <a:r>
              <a:rPr>
                <a:latin typeface="Courier"/>
              </a:rPr>
              <a:t> </a:t>
            </a:r>
            <a:r>
              <a:rPr>
                <a:solidFill>
                  <a:srgbClr val="06287E"/>
                </a:solidFill>
                <a:latin typeface="Courier"/>
              </a:rPr>
              <a:t>read.csv</a:t>
            </a:r>
            <a:r>
              <a:rPr>
                <a:latin typeface="Courier"/>
              </a:rPr>
              <a:t>(</a:t>
            </a:r>
            <a:r>
              <a:rPr>
                <a:solidFill>
                  <a:srgbClr val="4070A0"/>
                </a:solidFill>
                <a:latin typeface="Courier"/>
              </a:rPr>
              <a:t>"target.csv"</a:t>
            </a:r>
            <a:r>
              <a:rPr>
                <a:latin typeface="Courier"/>
              </a:rPr>
              <a:t>)</a:t>
            </a:r>
          </a:p>
          <a:p>
            <a:pPr lvl="0" indent="0" marL="0">
              <a:spcBef>
                <a:spcPts val="3000"/>
              </a:spcBef>
              <a:buNone/>
            </a:pPr>
            <a:r>
              <a:rPr b="1"/>
              <a:t>Summary Statistics</a:t>
            </a:r>
          </a:p>
          <a:p>
            <a:pPr lvl="0" indent="0">
              <a:buNone/>
            </a:pPr>
            <a:r>
              <a:rPr>
                <a:solidFill>
                  <a:srgbClr val="06287E"/>
                </a:solidFill>
                <a:latin typeface="Courier"/>
              </a:rPr>
              <a:t>summary</a:t>
            </a:r>
            <a:r>
              <a:rPr>
                <a:latin typeface="Courier"/>
              </a:rPr>
              <a:t>(lysis)</a:t>
            </a:r>
          </a:p>
          <a:p>
            <a:pPr lvl="0" indent="0">
              <a:buNone/>
            </a:pPr>
            <a:r>
              <a:rPr>
                <a:latin typeface="Courier"/>
              </a:rPr>
              <a:t>##  Snap.Proportion      ktPAon           kplioff             kplgon       
##  Min.   :0.1250   Min.   : 0.0010   Min.   :   0.576   Min.   : 0.0010  
##  1st Qu.:0.6667   1st Qu.: 0.1000   1st Qu.:  57.600   1st Qu.: 0.1000  
##  Median :0.6667   Median : 0.1000   Median :  57.600   Median : 0.1000  
##  Mean   :0.6319   Mean   : 0.3409   Mean   : 348.645   Mean   : 0.3526  
##  3rd Qu.:0.6667   3rd Qu.: 0.1000   3rd Qu.:  57.600   3rd Qu.: 0.1000  
##  Max.   :0.6667   Max.   :10.0000   Max.   :5760.000   Max.   :10.0000  
##   KdtPAyesplg        KdtPAnoplg       KdPLGnicked       KdPLGintact     
##  Min.   :0.00020   Min.   : 0.0036   Min.   :  0.022   Min.   :   0.38  
##  1st Qu.:0.02000   1st Qu.: 0.3600   1st Qu.:  2.200   1st Qu.:  38.00  
##  Median :0.02000   Median : 0.3600   Median :  2.200   Median :  38.00  
##  Mean   :0.07053   Mean   : 1.2695   Mean   :  7.758   Mean   : 134.00  
##  3rd Qu.:0.02000   3rd Qu.: 0.3600   3rd Qu.:  2.200   3rd Qu.:  38.00  
##  Max.   :2.00000   Max.   :36.0000   Max.   :220.000   Max.   :3800.00  
##  kdeg.and.kncat    medianlysis     
##  Min.   :  0.05   Min.   : 0.2645  
##  1st Qu.:  5.00   1st Qu.: 0.4538  
##  Median :  5.00   Median : 0.5399  
##  Mean   : 17.63   Mean   : 1.6513  
##  3rd Qu.:  5.00   3rd Qu.: 1.6116  
##  Max.   :500.00   Max.   :20.5649</a:t>
            </a:r>
          </a:p>
          <a:p>
            <a:pPr lvl="0" indent="0">
              <a:buNone/>
            </a:pPr>
            <a:r>
              <a:rPr>
                <a:solidFill>
                  <a:srgbClr val="06287E"/>
                </a:solidFill>
                <a:latin typeface="Courier"/>
              </a:rPr>
              <a:t>sapply</a:t>
            </a:r>
            <a:r>
              <a:rPr>
                <a:latin typeface="Courier"/>
              </a:rPr>
              <a:t>(lysis, sd)</a:t>
            </a:r>
          </a:p>
          <a:p>
            <a:pPr lvl="0" indent="0">
              <a:buNone/>
            </a:pPr>
            <a:r>
              <a:rPr>
                <a:latin typeface="Courier"/>
              </a:rPr>
              <a:t>## Snap.Proportion          ktPAon         kplioff          kplgon     KdtPAyesplg 
##       0.1165935       1.5337694    1229.9751663       1.5314357       0.3062871 
##      KdtPAnoplg     KdPLGnicked     KdPLGintact  kdeg.and.kncat     medianlysis 
##       5.5131685      33.6915854     581.9455666      76.5717851       3.3365496</a:t>
            </a:r>
          </a:p>
          <a:p>
            <a:pPr lvl="0" indent="0">
              <a:buNone/>
            </a:pPr>
            <a:r>
              <a:rPr>
                <a:solidFill>
                  <a:srgbClr val="06287E"/>
                </a:solidFill>
                <a:latin typeface="Courier"/>
              </a:rPr>
              <a:t>describe</a:t>
            </a:r>
            <a:r>
              <a:rPr>
                <a:latin typeface="Courier"/>
              </a:rPr>
              <a:t>(lysis)</a:t>
            </a:r>
          </a:p>
          <a:p>
            <a:pPr lvl="0" indent="0">
              <a:buNone/>
            </a:pPr>
            <a:r>
              <a:rPr>
                <a:latin typeface="Courier"/>
              </a:rPr>
              <a:t>##                 vars  n   mean      sd median trimmed  mad  min     max   range
## Snap.Proportion    1 42   0.63    0.12   0.67    0.67 0.00 0.12    0.67    0.54
## ktPAon             2 42   0.34    1.53   0.10    0.09 0.00 0.00   10.00   10.00
## kplioff            3 42 348.64 1229.98  57.60   57.60 0.00 0.58 5760.00 5759.42
## kplgon             4 42   0.35    1.53   0.10    0.10 0.00 0.00   10.00   10.00
## KdtPAyesplg        5 42   0.07    0.31   0.02    0.02 0.00 0.00    2.00    2.00
## KdtPAnoplg         6 42   1.27    5.51   0.36    0.36 0.00 0.00   36.00   36.00
## KdPLGnicked        7 42   7.76   33.69   2.20    2.20 0.00 0.02  220.00  219.98
## KdPLGintact        8 42 134.00  581.95  38.00   38.00 0.00 0.38 3800.00 3799.62
## kdeg.and.kncat     9 42  17.63   76.57   5.00    5.00 0.00 0.05  500.00  499.95
## medianlysis       10 42   1.65    3.34   0.54    0.92 0.28 0.26   20.56   20.30
##                  skew kurtosis     se
## Snap.Proportion -3.22     9.36   0.02
## ktPAon           5.94    34.45   0.24
## kplioff          4.04    14.84 189.79
## kplgon           5.95    34.50   0.24
## KdtPAyesplg      5.95    34.50   0.05
## KdtPAnoplg       5.95    34.50   0.85
## KdPLGnicked      5.95    34.50   5.20
## KdPLGintact      5.95    34.50  89.80
## kdeg.and.kncat   5.95    34.50  11.82
## medianlysis      4.50    21.92   0.51</a:t>
            </a:r>
          </a:p>
          <a:p>
            <a:pPr lvl="0" indent="0">
              <a:buNone/>
            </a:pPr>
            <a:r>
              <a:rPr>
                <a:solidFill>
                  <a:srgbClr val="06287E"/>
                </a:solidFill>
                <a:latin typeface="Courier"/>
              </a:rPr>
              <a:t>pairs</a:t>
            </a:r>
            <a:r>
              <a:rPr>
                <a:latin typeface="Courier"/>
              </a:rPr>
              <a:t>(lysis[, </a:t>
            </a:r>
            <a:r>
              <a:rPr>
                <a:solidFill>
                  <a:srgbClr val="06287E"/>
                </a:solidFill>
                <a:latin typeface="Courier"/>
              </a:rPr>
              <a:t>c</a:t>
            </a:r>
            <a:r>
              <a:rPr>
                <a:latin typeface="Courier"/>
              </a:rPr>
              <a:t>(</a:t>
            </a:r>
            <a:r>
              <a:rPr>
                <a:solidFill>
                  <a:srgbClr val="4070A0"/>
                </a:solidFill>
                <a:latin typeface="Courier"/>
              </a:rPr>
              <a:t>"medianlysis"</a:t>
            </a:r>
            <a:r>
              <a:rPr>
                <a:latin typeface="Courier"/>
              </a:rPr>
              <a:t>, </a:t>
            </a:r>
            <a:r>
              <a:rPr>
                <a:solidFill>
                  <a:srgbClr val="4070A0"/>
                </a:solidFill>
                <a:latin typeface="Courier"/>
              </a:rPr>
              <a:t>"Snap.Proportion"</a:t>
            </a:r>
            <a:r>
              <a:rPr>
                <a:latin typeface="Courier"/>
              </a:rPr>
              <a:t>, </a:t>
            </a:r>
            <a:r>
              <a:rPr>
                <a:solidFill>
                  <a:srgbClr val="4070A0"/>
                </a:solidFill>
                <a:latin typeface="Courier"/>
              </a:rPr>
              <a:t>"ktPAon"</a:t>
            </a:r>
            <a:r>
              <a:rPr>
                <a:latin typeface="Courier"/>
              </a:rPr>
              <a:t>, </a:t>
            </a:r>
            <a:r>
              <a:rPr>
                <a:solidFill>
                  <a:srgbClr val="4070A0"/>
                </a:solidFill>
                <a:latin typeface="Courier"/>
              </a:rPr>
              <a:t>"kplioff"</a:t>
            </a:r>
            <a:r>
              <a:rPr>
                <a:latin typeface="Courier"/>
              </a:rPr>
              <a:t>, </a:t>
            </a:r>
            <a:r>
              <a:rPr>
                <a:solidFill>
                  <a:srgbClr val="4070A0"/>
                </a:solidFill>
                <a:latin typeface="Courier"/>
              </a:rPr>
              <a:t>"kplgon"</a:t>
            </a:r>
            <a:r>
              <a:rPr>
                <a:latin typeface="Courier"/>
              </a:rPr>
              <a:t>, </a:t>
            </a:r>
            <a:r>
              <a:rPr>
                <a:solidFill>
                  <a:srgbClr val="4070A0"/>
                </a:solidFill>
                <a:latin typeface="Courier"/>
              </a:rPr>
              <a:t>"KdtPAyesplg"</a:t>
            </a:r>
            <a:r>
              <a:rPr>
                <a:latin typeface="Courier"/>
              </a:rPr>
              <a:t>, </a:t>
            </a:r>
            <a:r>
              <a:rPr>
                <a:solidFill>
                  <a:srgbClr val="4070A0"/>
                </a:solidFill>
                <a:latin typeface="Courier"/>
              </a:rPr>
              <a:t>"KdtPAnoplg"</a:t>
            </a:r>
            <a:r>
              <a:rPr>
                <a:latin typeface="Courier"/>
              </a:rPr>
              <a:t>, </a:t>
            </a:r>
            <a:r>
              <a:rPr>
                <a:solidFill>
                  <a:srgbClr val="4070A0"/>
                </a:solidFill>
                <a:latin typeface="Courier"/>
              </a:rPr>
              <a:t>"KdPLGnicked"</a:t>
            </a:r>
            <a:r>
              <a:rPr>
                <a:latin typeface="Courier"/>
              </a:rPr>
              <a:t>, </a:t>
            </a:r>
            <a:r>
              <a:rPr>
                <a:solidFill>
                  <a:srgbClr val="4070A0"/>
                </a:solidFill>
                <a:latin typeface="Courier"/>
              </a:rPr>
              <a:t>"KdPLGintact"</a:t>
            </a:r>
            <a:r>
              <a:rPr>
                <a:latin typeface="Courier"/>
              </a:rPr>
              <a:t>, </a:t>
            </a:r>
            <a:r>
              <a:rPr>
                <a:solidFill>
                  <a:srgbClr val="4070A0"/>
                </a:solidFill>
                <a:latin typeface="Courier"/>
              </a:rPr>
              <a:t>"kdeg.and.kncat"</a:t>
            </a:r>
            <a:r>
              <a:rPr>
                <a:latin typeface="Courier"/>
              </a:rPr>
              <a:t>)], </a:t>
            </a:r>
            <a:r>
              <a:rPr>
                <a:solidFill>
                  <a:srgbClr val="7D9029"/>
                </a:solidFill>
                <a:latin typeface="Courier"/>
              </a:rPr>
              <a:t>lower.panel=</a:t>
            </a:r>
            <a:r>
              <a:rPr>
                <a:solidFill>
                  <a:srgbClr val="880000"/>
                </a:solidFill>
                <a:latin typeface="Courier"/>
              </a:rPr>
              <a:t>NULL</a:t>
            </a:r>
            <a:r>
              <a:rPr>
                <a:latin typeface="Courier"/>
              </a:rPr>
              <a:t>)</a:t>
            </a:r>
          </a:p>
        </p:txBody>
      </p:sp>
      <p:pic>
        <p:nvPicPr>
          <p:cNvPr descr="Fibrinolysis_Regression_files/figure-pptx/unnamed-chunk-3-1.png" id="0" name="Picture 1"/>
          <p:cNvPicPr>
            <a:picLocks noGrp="1" noChangeAspect="1"/>
          </p:cNvPicPr>
          <p:nvPr/>
        </p:nvPicPr>
        <p:blipFill>
          <a:blip r:embed="rId2"/>
          <a:stretch>
            <a:fillRect/>
          </a:stretch>
        </p:blipFill>
        <p:spPr bwMode="auto">
          <a:xfrm>
            <a:off x="3568700" y="355600"/>
            <a:ext cx="5105400" cy="4089400"/>
          </a:xfrm>
          <a:prstGeom prst="rect">
            <a:avLst/>
          </a:prstGeom>
          <a:noFill/>
          <a:ln w="9525">
            <a:noFill/>
            <a:headEnd/>
            <a:tailEnd/>
          </a:ln>
        </p:spPr>
      </p:pic>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buNone/>
                </a:pPr>
              </a:p>
              <a:p>
                <a:pPr lvl="0" indent="0" marL="0">
                  <a:buNone/>
                </a:pPr>
                <a:r>
                  <a:rPr b="1"/>
                  <a:t>Figure 1: Pairwise scatterplots of all variables.</a:t>
                </a:r>
                <a:r>
                  <a:rPr/>
                  <a:t> This plot matrix provides a visual overview of the relationships between variables, helping to identify potential linear association before formal modeling. Visually we can see that there is no linear relationship present between median lysis and other variables which means that we might need to transform the variables necessarily.</a:t>
                </a:r>
              </a:p>
              <a:p>
                <a:pPr lvl="0" indent="0" marL="0">
                  <a:spcBef>
                    <a:spcPts val="3000"/>
                  </a:spcBef>
                  <a:buNone/>
                </a:pPr>
                <a:r>
                  <a:rPr b="1"/>
                  <a:t>Fitting the Original Model</a:t>
                </a:r>
              </a:p>
              <a:p>
                <a:pPr lvl="0" indent="0">
                  <a:buNone/>
                </a:pPr>
                <a:r>
                  <a:rPr>
                    <a:latin typeface="Courier"/>
                  </a:rPr>
                  <a:t>Org_model </a:t>
                </a:r>
                <a:r>
                  <a:rPr>
                    <a:solidFill>
                      <a:srgbClr val="007020"/>
                    </a:solidFill>
                    <a:latin typeface="Courier"/>
                  </a:rPr>
                  <a:t>&lt;-</a:t>
                </a:r>
                <a:r>
                  <a:rPr>
                    <a:latin typeface="Courier"/>
                  </a:rPr>
                  <a:t> </a:t>
                </a:r>
                <a:r>
                  <a:rPr>
                    <a:solidFill>
                      <a:srgbClr val="06287E"/>
                    </a:solidFill>
                    <a:latin typeface="Courier"/>
                  </a:rPr>
                  <a:t>lm</a:t>
                </a:r>
                <a:r>
                  <a:rPr>
                    <a:latin typeface="Courier"/>
                  </a:rPr>
                  <a:t>(medianlysis </a:t>
                </a:r>
                <a:r>
                  <a:rPr>
                    <a:solidFill>
                      <a:srgbClr val="4070A0"/>
                    </a:solidFill>
                    <a:latin typeface="Courier"/>
                  </a:rPr>
                  <a:t>~</a:t>
                </a:r>
                <a:r>
                  <a:rPr>
                    <a:latin typeface="Courier"/>
                  </a:rPr>
                  <a:t>., </a:t>
                </a:r>
                <a:r>
                  <a:rPr>
                    <a:solidFill>
                      <a:srgbClr val="7D9029"/>
                    </a:solidFill>
                    <a:latin typeface="Courier"/>
                  </a:rPr>
                  <a:t>data =</a:t>
                </a:r>
                <a:r>
                  <a:rPr>
                    <a:latin typeface="Courier"/>
                  </a:rPr>
                  <a:t> lysis)</a:t>
                </a:r>
                <a:br/>
                <a:r>
                  <a:rPr>
                    <a:solidFill>
                      <a:srgbClr val="06287E"/>
                    </a:solidFill>
                    <a:latin typeface="Courier"/>
                  </a:rPr>
                  <a:t>summary</a:t>
                </a:r>
                <a:r>
                  <a:rPr>
                    <a:latin typeface="Courier"/>
                  </a:rPr>
                  <a:t>(Org_model)</a:t>
                </a:r>
              </a:p>
              <a:p>
                <a:pPr lvl="0" indent="0">
                  <a:buNone/>
                </a:pPr>
                <a:r>
                  <a:rPr>
                    <a:latin typeface="Courier"/>
                  </a:rPr>
                  <a:t>## 
## Call:
## lm(formula = medianlysis ~ ., data = lysis)
## 
## Residuals:
##     Min      1Q  Median      3Q     Max 
## -1.8079 -1.6196 -0.5921  0.2176 18.3605 
## 
## Coefficients:
##                   Estimate Std. Error t value Pr(&gt;|t|)
## (Intercept)     -0.6004791  3.1540195  -0.190    0.850
## Snap.Proportion  4.3878629  4.9810891   0.881    0.385
## ktPAon          -0.2165594  0.3752938  -0.577    0.568
## kplioff         -0.0001510  0.0004705  -0.321    0.750
## kplgon          -0.1764185  0.3758938  -0.469    0.642
## KdtPAyesplg     -0.9089443  1.8794688  -0.484    0.632
## KdtPAnoplg      -0.0580584  0.1044149  -0.556    0.582
## KdPLGnicked     -0.0080217  0.0170861  -0.469    0.642
## KdPLGintact     -0.0004098  0.0009892  -0.414    0.681
## kdeg.and.kncat  -0.0043838  0.0075179  -0.583    0.564
## 
## Residual standard error: 3.664 on 32 degrees of freedom
## Multiple R-squared:  0.05877,    Adjusted R-squared:  -0.2059 
## F-statistic: 0.222 on 9 and 32 DF,  p-value: 0.989</a:t>
                </a:r>
              </a:p>
              <a:p>
                <a:pPr lvl="0" indent="0" marL="0">
                  <a:buNone/>
                </a:pPr>
                <a:r>
                  <a:rPr/>
                  <a:t>Global </a:t>
                </a:r>
                <a14:m>
                  <m:oMath xmlns:m="http://schemas.openxmlformats.org/officeDocument/2006/math">
                    <m:r>
                      <m:t>F</m:t>
                    </m:r>
                  </m:oMath>
                </a14:m>
                <a:r>
                  <a:rPr/>
                  <a:t>-test:</a:t>
                </a:r>
              </a:p>
              <a:p>
                <a:pPr lvl="0" indent="0" marL="0">
                  <a:buNone/>
                </a:pPr>
                <a14:m>
                  <m:oMath xmlns:m="http://schemas.openxmlformats.org/officeDocument/2006/math">
                    <m:sSub>
                      <m:e>
                        <m:r>
                          <m:t>H</m:t>
                        </m:r>
                      </m:e>
                      <m:sub>
                        <m:r>
                          <m:t>0</m:t>
                        </m:r>
                      </m:sub>
                    </m:sSub>
                    <m:r>
                      <m:rPr>
                        <m:sty m:val="p"/>
                      </m:rPr>
                      <m:t>:</m:t>
                    </m:r>
                    <m:sSub>
                      <m:e>
                        <m:r>
                          <m:t>β</m:t>
                        </m:r>
                      </m:e>
                      <m:sub>
                        <m:r>
                          <m:t>1</m:t>
                        </m:r>
                      </m:sub>
                    </m:sSub>
                    <m:r>
                      <m:rPr>
                        <m:sty m:val="p"/>
                      </m:rPr>
                      <m:t>=</m:t>
                    </m:r>
                    <m:sSub>
                      <m:e>
                        <m:r>
                          <m:t>β</m:t>
                        </m:r>
                      </m:e>
                      <m:sub>
                        <m:r>
                          <m:t>2</m:t>
                        </m:r>
                      </m:sub>
                    </m:sSub>
                    <m:r>
                      <m:rPr>
                        <m:sty m:val="p"/>
                      </m:rPr>
                      <m:t>=</m:t>
                    </m:r>
                    <m:r>
                      <m:rPr>
                        <m:sty m:val="p"/>
                      </m:rPr>
                      <m:t>.</m:t>
                    </m:r>
                    <m:r>
                      <m:rPr>
                        <m:sty m:val="p"/>
                      </m:rPr>
                      <m:t>.</m:t>
                    </m:r>
                    <m:r>
                      <m:rPr>
                        <m:sty m:val="p"/>
                      </m:rPr>
                      <m:t>.</m:t>
                    </m:r>
                    <m:r>
                      <m:rPr>
                        <m:sty m:val="p"/>
                      </m:rPr>
                      <m:t>.</m:t>
                    </m:r>
                    <m:r>
                      <m:rPr>
                        <m:sty m:val="p"/>
                      </m:rPr>
                      <m:t>.</m:t>
                    </m:r>
                    <m:r>
                      <m:rPr>
                        <m:sty m:val="p"/>
                      </m:rPr>
                      <m:t>=</m:t>
                    </m:r>
                    <m:r>
                      <m:t>0</m:t>
                    </m:r>
                  </m:oMath>
                </a14:m>
              </a:p>
              <a:p>
                <a:pPr lvl="0" indent="0" marL="0">
                  <a:buNone/>
                </a:pPr>
                <a14:m>
                  <m:oMath xmlns:m="http://schemas.openxmlformats.org/officeDocument/2006/math">
                    <m:sSub>
                      <m:e>
                        <m:r>
                          <m:t>H</m:t>
                        </m:r>
                      </m:e>
                      <m:sub>
                        <m:r>
                          <m:t>1</m:t>
                        </m:r>
                      </m:sub>
                    </m:sSub>
                    <m:r>
                      <m:rPr>
                        <m:sty m:val="p"/>
                      </m:rPr>
                      <m:t>:</m:t>
                    </m:r>
                  </m:oMath>
                </a14:m>
                <a:r>
                  <a:rPr/>
                  <a:t> At least one </a:t>
                </a:r>
                <a14:m>
                  <m:oMath xmlns:m="http://schemas.openxmlformats.org/officeDocument/2006/math">
                    <m:sSub>
                      <m:e>
                        <m:r>
                          <m:t>β</m:t>
                        </m:r>
                      </m:e>
                      <m:sub>
                        <m:r>
                          <m:t>i</m:t>
                        </m:r>
                      </m:sub>
                    </m:sSub>
                    <m:r>
                      <m:rPr>
                        <m:sty m:val="p"/>
                      </m:rPr>
                      <m:t>≠</m:t>
                    </m:r>
                    <m:r>
                      <m:t>0</m:t>
                    </m:r>
                  </m:oMath>
                </a14:m>
              </a:p>
              <a:p>
                <a:pPr lvl="0" indent="0" marL="0">
                  <a:buNone/>
                </a:pPr>
                <a14:m>
                  <m:oMath xmlns:m="http://schemas.openxmlformats.org/officeDocument/2006/math">
                    <m:r>
                      <m:t>F</m:t>
                    </m:r>
                    <m:r>
                      <m:rPr>
                        <m:sty m:val="p"/>
                      </m:rPr>
                      <m:t>=</m:t>
                    </m:r>
                    <m:r>
                      <m:t>0.222</m:t>
                    </m:r>
                  </m:oMath>
                </a14:m>
              </a:p>
              <a:p>
                <a:pPr lvl="0" indent="0" marL="0">
                  <a:buNone/>
                </a:pPr>
                <a14:m>
                  <m:oMath xmlns:m="http://schemas.openxmlformats.org/officeDocument/2006/math">
                    <m:r>
                      <m:t>p</m:t>
                    </m:r>
                    <m:r>
                      <m:rPr>
                        <m:sty m:val="p"/>
                      </m:rPr>
                      <m:t>=</m:t>
                    </m:r>
                    <m:r>
                      <m:t>0.989</m:t>
                    </m:r>
                    <m:r>
                      <m:rPr>
                        <m:sty m:val="p"/>
                      </m:rPr>
                      <m:t>&gt;</m:t>
                    </m:r>
                    <m:r>
                      <m:t>0.05</m:t>
                    </m:r>
                  </m:oMath>
                </a14:m>
              </a:p>
              <a:p>
                <a:pPr lvl="0" indent="0" marL="0">
                  <a:buNone/>
                </a:pPr>
                <a:r>
                  <a:rPr/>
                  <a:t>Fail to Reject </a:t>
                </a:r>
                <a14:m>
                  <m:oMath xmlns:m="http://schemas.openxmlformats.org/officeDocument/2006/math">
                    <m:sSub>
                      <m:e>
                        <m:r>
                          <m:t>H</m:t>
                        </m:r>
                      </m:e>
                      <m:sub>
                        <m:r>
                          <m:t>0</m:t>
                        </m:r>
                      </m:sub>
                    </m:sSub>
                  </m:oMath>
                </a14:m>
                <a:r>
                  <a:rPr/>
                  <a:t>, insufficient evidence to conclude the model is useful</a:t>
                </a:r>
              </a:p>
              <a:p>
                <a:pPr lvl="0" indent="0" marL="0">
                  <a:buNone/>
                </a:pPr>
                <a:r>
                  <a:rPr/>
                  <a:t>This model is statistically insignificant</a:t>
                </a:r>
              </a:p>
              <a:p>
                <a:pPr lvl="0" indent="0" marL="0">
                  <a:spcBef>
                    <a:spcPts val="3000"/>
                  </a:spcBef>
                  <a:buNone/>
                </a:pPr>
                <a:r>
                  <a:rPr b="1"/>
                  <a:t>Correlation</a:t>
                </a:r>
              </a:p>
              <a:p>
                <a:pPr lvl="0" indent="0">
                  <a:buNone/>
                </a:pPr>
                <a:r>
                  <a:rPr>
                    <a:solidFill>
                      <a:srgbClr val="06287E"/>
                    </a:solidFill>
                    <a:latin typeface="Courier"/>
                  </a:rPr>
                  <a:t>cor</a:t>
                </a:r>
                <a:r>
                  <a:rPr>
                    <a:latin typeface="Courier"/>
                  </a:rPr>
                  <a:t>(lysis)</a:t>
                </a:r>
              </a:p>
              <a:p>
                <a:pPr lvl="0" indent="0">
                  <a:buNone/>
                </a:pPr>
                <a:r>
                  <a:rPr>
                    <a:latin typeface="Courier"/>
                  </a:rPr>
                  <a:t>##                 Snap.Proportion      ktPAon     kplioff      kplgon KdtPAyesplg
## Snap.Proportion      1.00000000  0.04802077  0.07235905  0.05044730  0.05044730
## ktPAon               0.04802077  1.00000000 -0.04588820 -0.02653830 -0.02653830
## kplioff              0.07235905 -0.04588820  1.00000000 -0.03998866 -0.03998866
## kplgon               0.05044730 -0.02653830 -0.03998866  1.00000000 -0.02787931
## KdtPAyesplg          0.05044730 -0.02653830 -0.03998866 -0.02787931  1.00000000
## KdtPAnoplg           0.05044730 -0.02653830 -0.03998866 -0.02787931 -0.02787931
## KdPLGnicked          0.05044730 -0.02653830 -0.03998866 -0.02787931 -0.02787931
## KdPLGintact          0.05044730 -0.02653830 -0.03998866 -0.02787931 -0.02787931
## kdeg.and.kncat       0.05044730 -0.02653830 -0.03998866 -0.02787931 -0.02787931
## medianlysis          0.11862230 -0.07600711 -0.01946428 -0.05631483 -0.05884849
##                  KdtPAnoplg KdPLGnicked KdPLGintact kdeg.and.kncat medianlysis
## Snap.Proportion  0.05044730  0.05044730  0.05044730     0.05044730  0.11862230
## ktPAon          -0.02653830 -0.02653830 -0.02653830    -0.02653830 -0.07600711
## kplioff         -0.03998866 -0.03998866 -0.03998866    -0.03998866 -0.01946428
## kplgon          -0.02787931 -0.02787931 -0.02787931    -0.02787931 -0.05631483
## KdtPAyesplg     -0.02787931 -0.02787931 -0.02787931    -0.02787931 -0.05884849
## KdtPAnoplg       1.00000000 -0.02787931 -0.02787931    -0.02787931 -0.07169104
## KdPLGnicked     -0.02787931  1.00000000 -0.02787931    -0.02787931 -0.05634297
## KdPLGintact     -0.02787931 -0.02787931  1.00000000    -0.02787931 -0.04654581
## kdeg.and.kncat  -0.02787931 -0.02787931 -0.02787931     1.00000000 -0.07649436
## medianlysis     -0.07169104 -0.05634297 -0.04654581    -0.07649436  1.00000000</a:t>
                </a:r>
              </a:p>
              <a:p>
                <a:pPr lvl="0" indent="0">
                  <a:buNone/>
                </a:pPr>
                <a:r>
                  <a:rPr>
                    <a:solidFill>
                      <a:srgbClr val="06287E"/>
                    </a:solidFill>
                    <a:latin typeface="Courier"/>
                  </a:rPr>
                  <a:t>corrplot</a:t>
                </a:r>
                <a:r>
                  <a:rPr>
                    <a:latin typeface="Courier"/>
                  </a:rPr>
                  <a:t>(</a:t>
                </a:r>
                <a:r>
                  <a:rPr>
                    <a:solidFill>
                      <a:srgbClr val="06287E"/>
                    </a:solidFill>
                    <a:latin typeface="Courier"/>
                  </a:rPr>
                  <a:t>cor</a:t>
                </a:r>
                <a:r>
                  <a:rPr>
                    <a:latin typeface="Courier"/>
                  </a:rPr>
                  <a:t>(lysis), </a:t>
                </a:r>
                <a:r>
                  <a:rPr>
                    <a:solidFill>
                      <a:srgbClr val="7D9029"/>
                    </a:solidFill>
                    <a:latin typeface="Courier"/>
                  </a:rPr>
                  <a:t>method =</a:t>
                </a:r>
                <a:r>
                  <a:rPr>
                    <a:latin typeface="Courier"/>
                  </a:rPr>
                  <a:t> </a:t>
                </a:r>
                <a:r>
                  <a:rPr>
                    <a:solidFill>
                      <a:srgbClr val="4070A0"/>
                    </a:solidFill>
                    <a:latin typeface="Courier"/>
                  </a:rPr>
                  <a:t>"color"</a:t>
                </a:r>
                <a:r>
                  <a:rPr>
                    <a:latin typeface="Courier"/>
                  </a:rPr>
                  <a:t>, </a:t>
                </a:r>
                <a:r>
                  <a:rPr>
                    <a:solidFill>
                      <a:srgbClr val="7D9029"/>
                    </a:solidFill>
                    <a:latin typeface="Courier"/>
                  </a:rPr>
                  <a:t>t1.cex=</a:t>
                </a:r>
                <a:r>
                  <a:rPr>
                    <a:solidFill>
                      <a:srgbClr val="40A070"/>
                    </a:solidFill>
                    <a:latin typeface="Courier"/>
                  </a:rPr>
                  <a:t>0.7</a:t>
                </a:r>
                <a:r>
                  <a:rPr>
                    <a:latin typeface="Courier"/>
                  </a:rPr>
                  <a:t>)</a:t>
                </a:r>
              </a:p>
              <a:p>
                <a:pPr lvl="0" indent="0">
                  <a:buNone/>
                </a:pPr>
                <a:r>
                  <a:rPr>
                    <a:latin typeface="Courier"/>
                  </a:rPr>
                  <a:t>## Warning in text.default(pos.xlabel[, 1], pos.xlabel[, 2], newcolnames, srt =
## tl.srt, : "t1.cex" is not a graphical parameter</a:t>
                </a:r>
              </a:p>
              <a:p>
                <a:pPr lvl="0" indent="0">
                  <a:buNone/>
                </a:pPr>
                <a:r>
                  <a:rPr>
                    <a:latin typeface="Courier"/>
                  </a:rPr>
                  <a:t>## Warning in text.default(pos.ylabel[, 1], pos.ylabel[, 2], newrownames, col =
## tl.col, : "t1.cex" is not a graphical parameter</a:t>
                </a:r>
              </a:p>
              <a:p>
                <a:pPr lvl="0" indent="0">
                  <a:buNone/>
                </a:pPr>
                <a:r>
                  <a:rPr>
                    <a:latin typeface="Courier"/>
                  </a:rPr>
                  <a:t>## Warning in title(title, ...): "t1.cex" is not a graphical parameter</a:t>
                </a:r>
              </a:p>
            </p:txBody>
          </p:sp>
        </mc:Choice>
      </mc:AlternateContent>
      <p:pic>
        <p:nvPicPr>
          <p:cNvPr descr="Fibrinolysis_Regression_files/figure-pptx/unnamed-chunk-5-1.png" id="0" name="Picture 1"/>
          <p:cNvPicPr>
            <a:picLocks noGrp="1" noChangeAspect="1"/>
          </p:cNvPicPr>
          <p:nvPr/>
        </p:nvPicPr>
        <p:blipFill>
          <a:blip r:embed="rId2"/>
          <a:stretch>
            <a:fillRect/>
          </a:stretch>
        </p:blipFill>
        <p:spPr bwMode="auto">
          <a:xfrm>
            <a:off x="3568700" y="355600"/>
            <a:ext cx="5105400" cy="4089400"/>
          </a:xfrm>
          <a:prstGeom prst="rect">
            <a:avLst/>
          </a:prstGeom>
          <a:noFill/>
          <a:ln w="9525">
            <a:noFill/>
            <a:headEnd/>
            <a:tailEnd/>
          </a:ln>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p>
          <a:p>
            <a:pPr lvl="0" indent="0" marL="0">
              <a:buNone/>
            </a:pPr>
            <a:r>
              <a:rPr b="1"/>
              <a:t>Figure 2: Correlation matrix visualization.</a:t>
            </a:r>
            <a:r>
              <a:rPr/>
              <a:t> The color coded correlation plot reveals the strength and direction of linear relationships between variables. Strong correlations (close to ±1) appear in darker colors, while weak correlations appear lighter. This helps identify potential multicollinearity issues that could affect regression modeling, which in this case there is no correlation relationship among the independent variables.</a:t>
            </a:r>
          </a:p>
          <a:p>
            <a:pPr lvl="0" indent="0" marL="0">
              <a:spcBef>
                <a:spcPts val="3000"/>
              </a:spcBef>
              <a:buNone/>
            </a:pPr>
            <a:r>
              <a:rPr b="1"/>
              <a:t>Diagnostics</a:t>
            </a:r>
          </a:p>
          <a:p>
            <a:pPr lvl="0" indent="0">
              <a:buNone/>
            </a:pPr>
            <a:r>
              <a:rPr>
                <a:solidFill>
                  <a:srgbClr val="06287E"/>
                </a:solidFill>
                <a:latin typeface="Courier"/>
              </a:rPr>
              <a:t>par</a:t>
            </a:r>
            <a:r>
              <a:rPr>
                <a:latin typeface="Courier"/>
              </a:rPr>
              <a:t>(</a:t>
            </a:r>
            <a:r>
              <a:rPr>
                <a:solidFill>
                  <a:srgbClr val="7D9029"/>
                </a:solidFill>
                <a:latin typeface="Courier"/>
              </a:rPr>
              <a:t>mfrow=</a:t>
            </a:r>
            <a:r>
              <a:rPr>
                <a:solidFill>
                  <a:srgbClr val="06287E"/>
                </a:solidFill>
                <a:latin typeface="Courier"/>
              </a:rPr>
              <a:t>c</a:t>
            </a:r>
            <a:r>
              <a:rPr>
                <a:latin typeface="Courier"/>
              </a:rPr>
              <a:t>(</a:t>
            </a:r>
            <a:r>
              <a:rPr>
                <a:solidFill>
                  <a:srgbClr val="40A070"/>
                </a:solidFill>
                <a:latin typeface="Courier"/>
              </a:rPr>
              <a:t>3</a:t>
            </a:r>
            <a:r>
              <a:rPr>
                <a:latin typeface="Courier"/>
              </a:rPr>
              <a:t>,</a:t>
            </a:r>
            <a:r>
              <a:rPr>
                <a:solidFill>
                  <a:srgbClr val="40A070"/>
                </a:solidFill>
                <a:latin typeface="Courier"/>
              </a:rPr>
              <a:t>3</a:t>
            </a:r>
            <a:r>
              <a:rPr>
                <a:latin typeface="Courier"/>
              </a:rPr>
              <a:t>))</a:t>
            </a:r>
            <a:br/>
            <a:r>
              <a:rPr b="1">
                <a:solidFill>
                  <a:srgbClr val="007020"/>
                </a:solidFill>
                <a:latin typeface="Courier"/>
              </a:rPr>
              <a:t>for</a:t>
            </a:r>
            <a:r>
              <a:rPr>
                <a:latin typeface="Courier"/>
              </a:rPr>
              <a:t>(i </a:t>
            </a:r>
            <a:r>
              <a:rPr b="1">
                <a:solidFill>
                  <a:srgbClr val="007020"/>
                </a:solidFill>
                <a:latin typeface="Courier"/>
              </a:rPr>
              <a:t>in</a:t>
            </a:r>
            <a:r>
              <a:rPr>
                <a:latin typeface="Courier"/>
              </a:rPr>
              <a:t> </a:t>
            </a:r>
            <a:r>
              <a:rPr>
                <a:solidFill>
                  <a:srgbClr val="40A070"/>
                </a:solidFill>
                <a:latin typeface="Courier"/>
              </a:rPr>
              <a:t>1</a:t>
            </a:r>
            <a:r>
              <a:rPr>
                <a:solidFill>
                  <a:srgbClr val="4070A0"/>
                </a:solidFill>
                <a:latin typeface="Courier"/>
              </a:rPr>
              <a:t>:</a:t>
            </a:r>
            <a:r>
              <a:rPr>
                <a:solidFill>
                  <a:srgbClr val="40A070"/>
                </a:solidFill>
                <a:latin typeface="Courier"/>
              </a:rPr>
              <a:t>9</a:t>
            </a:r>
            <a:r>
              <a:rPr>
                <a:latin typeface="Courier"/>
              </a:rPr>
              <a:t>) </a:t>
            </a:r>
            <a:r>
              <a:rPr>
                <a:solidFill>
                  <a:srgbClr val="06287E"/>
                </a:solidFill>
                <a:latin typeface="Courier"/>
              </a:rPr>
              <a:t>hist</a:t>
            </a:r>
            <a:r>
              <a:rPr>
                <a:latin typeface="Courier"/>
              </a:rPr>
              <a:t>(lysis[[i]], </a:t>
            </a:r>
            <a:r>
              <a:rPr>
                <a:solidFill>
                  <a:srgbClr val="7D9029"/>
                </a:solidFill>
                <a:latin typeface="Courier"/>
              </a:rPr>
              <a:t>main=</a:t>
            </a:r>
            <a:r>
              <a:rPr>
                <a:solidFill>
                  <a:srgbClr val="06287E"/>
                </a:solidFill>
                <a:latin typeface="Courier"/>
              </a:rPr>
              <a:t>names</a:t>
            </a:r>
            <a:r>
              <a:rPr>
                <a:latin typeface="Courier"/>
              </a:rPr>
              <a:t>(lysis)[i])</a:t>
            </a:r>
          </a:p>
        </p:txBody>
      </p:sp>
      <p:pic>
        <p:nvPicPr>
          <p:cNvPr descr="Fibrinolysis_Regression_files/figure-pptx/unnamed-chunk-6-1.png" id="0" name="Picture 1"/>
          <p:cNvPicPr>
            <a:picLocks noGrp="1" noChangeAspect="1"/>
          </p:cNvPicPr>
          <p:nvPr/>
        </p:nvPicPr>
        <p:blipFill>
          <a:blip r:embed="rId2"/>
          <a:stretch>
            <a:fillRect/>
          </a:stretch>
        </p:blipFill>
        <p:spPr bwMode="auto">
          <a:xfrm>
            <a:off x="3568700" y="355600"/>
            <a:ext cx="5105400" cy="4089400"/>
          </a:xfrm>
          <a:prstGeom prst="rect">
            <a:avLst/>
          </a:prstGeom>
          <a:noFill/>
          <a:ln w="9525">
            <a:noFill/>
            <a:headEnd/>
            <a:tailEnd/>
          </a:ln>
        </p:spPr>
      </p:pic>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p>
          <a:p>
            <a:pPr lvl="0" indent="0">
              <a:buNone/>
            </a:pPr>
            <a:r>
              <a:rPr>
                <a:solidFill>
                  <a:srgbClr val="06287E"/>
                </a:solidFill>
                <a:latin typeface="Courier"/>
              </a:rPr>
              <a:t>hist</a:t>
            </a:r>
            <a:r>
              <a:rPr>
                <a:latin typeface="Courier"/>
              </a:rPr>
              <a:t>(lysis</a:t>
            </a:r>
            <a:r>
              <a:rPr>
                <a:solidFill>
                  <a:srgbClr val="4070A0"/>
                </a:solidFill>
                <a:latin typeface="Courier"/>
              </a:rPr>
              <a:t>$</a:t>
            </a:r>
            <a:r>
              <a:rPr>
                <a:latin typeface="Courier"/>
              </a:rPr>
              <a:t>medianlysis, </a:t>
            </a:r>
            <a:r>
              <a:rPr>
                <a:solidFill>
                  <a:srgbClr val="7D9029"/>
                </a:solidFill>
                <a:latin typeface="Courier"/>
              </a:rPr>
              <a:t>main=</a:t>
            </a:r>
            <a:r>
              <a:rPr>
                <a:solidFill>
                  <a:srgbClr val="4070A0"/>
                </a:solidFill>
                <a:latin typeface="Courier"/>
              </a:rPr>
              <a:t>"medianlysis"</a:t>
            </a:r>
            <a:r>
              <a:rPr>
                <a:latin typeface="Courier"/>
              </a:rPr>
              <a:t>)</a:t>
            </a:r>
          </a:p>
        </p:txBody>
      </p:sp>
      <p:pic>
        <p:nvPicPr>
          <p:cNvPr descr="Fibrinolysis_Regression_files/figure-pptx/unnamed-chunk-6-2.png" id="0" name="Picture 1"/>
          <p:cNvPicPr>
            <a:picLocks noGrp="1" noChangeAspect="1"/>
          </p:cNvPicPr>
          <p:nvPr/>
        </p:nvPicPr>
        <p:blipFill>
          <a:blip r:embed="rId2"/>
          <a:stretch>
            <a:fillRect/>
          </a:stretch>
        </p:blipFill>
        <p:spPr bwMode="auto">
          <a:xfrm>
            <a:off x="3568700" y="355600"/>
            <a:ext cx="5105400" cy="4089400"/>
          </a:xfrm>
          <a:prstGeom prst="rect">
            <a:avLst/>
          </a:prstGeom>
          <a:noFill/>
          <a:ln w="9525">
            <a:noFill/>
            <a:headEnd/>
            <a:tailEnd/>
          </a:ln>
        </p:spPr>
      </p:pic>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p>
          <a:p>
            <a:pPr lvl="0" indent="0" marL="0">
              <a:buNone/>
            </a:pPr>
            <a:r>
              <a:rPr b="1"/>
              <a:t>Figure 3: Distribution histograms for all variables.</a:t>
            </a:r>
            <a:r>
              <a:rPr/>
              <a:t> These histograms reveal the distributional properties of each variable, including skewness, potential outliers, and whether transformations might be necessary to meet normality assumptions for regression analysis. Log transformation is used to address right skewness and improve linearity, Log transformation compresses large values more than small ones, reducing the impact of extreme values and making the distribution more symmetric.</a:t>
            </a:r>
          </a:p>
          <a:p>
            <a:pPr lvl="0" indent="0" marL="0">
              <a:spcBef>
                <a:spcPts val="3000"/>
              </a:spcBef>
              <a:buNone/>
            </a:pPr>
            <a:r>
              <a:rPr b="1"/>
              <a:t>Actions to tackle skewness and make the normality assumption valid</a:t>
            </a:r>
          </a:p>
          <a:p>
            <a:pPr lvl="0" indent="0">
              <a:buNone/>
            </a:pPr>
            <a:r>
              <a:rPr i="1">
                <a:solidFill>
                  <a:srgbClr val="60A0B0"/>
                </a:solidFill>
                <a:latin typeface="Courier"/>
              </a:rPr>
              <a:t># Snap.Proportion is a proportion (0–1), not a rate constant or concentration. It may already be bounded and less skewed, or have a different distribution, so log transformation is unnecessary.</a:t>
            </a:r>
            <a:br/>
            <a:br/>
            <a:br/>
            <a:br/>
            <a:br/>
            <a:r>
              <a:rPr>
                <a:latin typeface="Courier"/>
              </a:rPr>
              <a:t>lysis</a:t>
            </a:r>
            <a:r>
              <a:rPr>
                <a:solidFill>
                  <a:srgbClr val="4070A0"/>
                </a:solidFill>
                <a:latin typeface="Courier"/>
              </a:rPr>
              <a:t>$</a:t>
            </a:r>
            <a:r>
              <a:rPr>
                <a:latin typeface="Courier"/>
              </a:rPr>
              <a:t>ktPAon_log </a:t>
            </a:r>
            <a:r>
              <a:rPr>
                <a:solidFill>
                  <a:srgbClr val="007020"/>
                </a:solidFill>
                <a:latin typeface="Courier"/>
              </a:rPr>
              <a:t>&lt;-</a:t>
            </a:r>
            <a:r>
              <a:rPr>
                <a:latin typeface="Courier"/>
              </a:rPr>
              <a:t> </a:t>
            </a:r>
            <a:r>
              <a:rPr>
                <a:solidFill>
                  <a:srgbClr val="06287E"/>
                </a:solidFill>
                <a:latin typeface="Courier"/>
              </a:rPr>
              <a:t>log</a:t>
            </a:r>
            <a:r>
              <a:rPr>
                <a:latin typeface="Courier"/>
              </a:rPr>
              <a:t>(lysis</a:t>
            </a:r>
            <a:r>
              <a:rPr>
                <a:solidFill>
                  <a:srgbClr val="4070A0"/>
                </a:solidFill>
                <a:latin typeface="Courier"/>
              </a:rPr>
              <a:t>$</a:t>
            </a:r>
            <a:r>
              <a:rPr>
                <a:latin typeface="Courier"/>
              </a:rPr>
              <a:t>ktPAon)</a:t>
            </a:r>
            <a:br/>
            <a:r>
              <a:rPr>
                <a:latin typeface="Courier"/>
              </a:rPr>
              <a:t>lysis</a:t>
            </a:r>
            <a:r>
              <a:rPr>
                <a:solidFill>
                  <a:srgbClr val="4070A0"/>
                </a:solidFill>
                <a:latin typeface="Courier"/>
              </a:rPr>
              <a:t>$</a:t>
            </a:r>
            <a:r>
              <a:rPr>
                <a:latin typeface="Courier"/>
              </a:rPr>
              <a:t>kplioff_log </a:t>
            </a:r>
            <a:r>
              <a:rPr>
                <a:solidFill>
                  <a:srgbClr val="007020"/>
                </a:solidFill>
                <a:latin typeface="Courier"/>
              </a:rPr>
              <a:t>&lt;-</a:t>
            </a:r>
            <a:r>
              <a:rPr>
                <a:latin typeface="Courier"/>
              </a:rPr>
              <a:t> </a:t>
            </a:r>
            <a:r>
              <a:rPr>
                <a:solidFill>
                  <a:srgbClr val="06287E"/>
                </a:solidFill>
                <a:latin typeface="Courier"/>
              </a:rPr>
              <a:t>log</a:t>
            </a:r>
            <a:r>
              <a:rPr>
                <a:latin typeface="Courier"/>
              </a:rPr>
              <a:t>(lysis</a:t>
            </a:r>
            <a:r>
              <a:rPr>
                <a:solidFill>
                  <a:srgbClr val="4070A0"/>
                </a:solidFill>
                <a:latin typeface="Courier"/>
              </a:rPr>
              <a:t>$</a:t>
            </a:r>
            <a:r>
              <a:rPr>
                <a:latin typeface="Courier"/>
              </a:rPr>
              <a:t>kplioff)</a:t>
            </a:r>
            <a:br/>
            <a:r>
              <a:rPr>
                <a:latin typeface="Courier"/>
              </a:rPr>
              <a:t>lysis</a:t>
            </a:r>
            <a:r>
              <a:rPr>
                <a:solidFill>
                  <a:srgbClr val="4070A0"/>
                </a:solidFill>
                <a:latin typeface="Courier"/>
              </a:rPr>
              <a:t>$</a:t>
            </a:r>
            <a:r>
              <a:rPr>
                <a:latin typeface="Courier"/>
              </a:rPr>
              <a:t>kplgon_log </a:t>
            </a:r>
            <a:r>
              <a:rPr>
                <a:solidFill>
                  <a:srgbClr val="007020"/>
                </a:solidFill>
                <a:latin typeface="Courier"/>
              </a:rPr>
              <a:t>&lt;-</a:t>
            </a:r>
            <a:r>
              <a:rPr>
                <a:latin typeface="Courier"/>
              </a:rPr>
              <a:t> </a:t>
            </a:r>
            <a:r>
              <a:rPr>
                <a:solidFill>
                  <a:srgbClr val="06287E"/>
                </a:solidFill>
                <a:latin typeface="Courier"/>
              </a:rPr>
              <a:t>log</a:t>
            </a:r>
            <a:r>
              <a:rPr>
                <a:latin typeface="Courier"/>
              </a:rPr>
              <a:t>(lysis</a:t>
            </a:r>
            <a:r>
              <a:rPr>
                <a:solidFill>
                  <a:srgbClr val="4070A0"/>
                </a:solidFill>
                <a:latin typeface="Courier"/>
              </a:rPr>
              <a:t>$</a:t>
            </a:r>
            <a:r>
              <a:rPr>
                <a:latin typeface="Courier"/>
              </a:rPr>
              <a:t>kplgon)</a:t>
            </a:r>
            <a:br/>
            <a:r>
              <a:rPr>
                <a:latin typeface="Courier"/>
              </a:rPr>
              <a:t>lysis</a:t>
            </a:r>
            <a:r>
              <a:rPr>
                <a:solidFill>
                  <a:srgbClr val="4070A0"/>
                </a:solidFill>
                <a:latin typeface="Courier"/>
              </a:rPr>
              <a:t>$</a:t>
            </a:r>
            <a:r>
              <a:rPr>
                <a:latin typeface="Courier"/>
              </a:rPr>
              <a:t>KdtPAyesplg_log </a:t>
            </a:r>
            <a:r>
              <a:rPr>
                <a:solidFill>
                  <a:srgbClr val="007020"/>
                </a:solidFill>
                <a:latin typeface="Courier"/>
              </a:rPr>
              <a:t>&lt;-</a:t>
            </a:r>
            <a:r>
              <a:rPr>
                <a:latin typeface="Courier"/>
              </a:rPr>
              <a:t> </a:t>
            </a:r>
            <a:r>
              <a:rPr>
                <a:solidFill>
                  <a:srgbClr val="06287E"/>
                </a:solidFill>
                <a:latin typeface="Courier"/>
              </a:rPr>
              <a:t>log</a:t>
            </a:r>
            <a:r>
              <a:rPr>
                <a:latin typeface="Courier"/>
              </a:rPr>
              <a:t>(lysis</a:t>
            </a:r>
            <a:r>
              <a:rPr>
                <a:solidFill>
                  <a:srgbClr val="4070A0"/>
                </a:solidFill>
                <a:latin typeface="Courier"/>
              </a:rPr>
              <a:t>$</a:t>
            </a:r>
            <a:r>
              <a:rPr>
                <a:latin typeface="Courier"/>
              </a:rPr>
              <a:t>KdtPAyesplg)</a:t>
            </a:r>
            <a:br/>
            <a:r>
              <a:rPr>
                <a:latin typeface="Courier"/>
              </a:rPr>
              <a:t>lysis</a:t>
            </a:r>
            <a:r>
              <a:rPr>
                <a:solidFill>
                  <a:srgbClr val="4070A0"/>
                </a:solidFill>
                <a:latin typeface="Courier"/>
              </a:rPr>
              <a:t>$</a:t>
            </a:r>
            <a:r>
              <a:rPr>
                <a:latin typeface="Courier"/>
              </a:rPr>
              <a:t>KdtPAnoplg_log </a:t>
            </a:r>
            <a:r>
              <a:rPr>
                <a:solidFill>
                  <a:srgbClr val="007020"/>
                </a:solidFill>
                <a:latin typeface="Courier"/>
              </a:rPr>
              <a:t>&lt;-</a:t>
            </a:r>
            <a:r>
              <a:rPr>
                <a:latin typeface="Courier"/>
              </a:rPr>
              <a:t> </a:t>
            </a:r>
            <a:r>
              <a:rPr>
                <a:solidFill>
                  <a:srgbClr val="06287E"/>
                </a:solidFill>
                <a:latin typeface="Courier"/>
              </a:rPr>
              <a:t>log</a:t>
            </a:r>
            <a:r>
              <a:rPr>
                <a:latin typeface="Courier"/>
              </a:rPr>
              <a:t>(lysis</a:t>
            </a:r>
            <a:r>
              <a:rPr>
                <a:solidFill>
                  <a:srgbClr val="4070A0"/>
                </a:solidFill>
                <a:latin typeface="Courier"/>
              </a:rPr>
              <a:t>$</a:t>
            </a:r>
            <a:r>
              <a:rPr>
                <a:latin typeface="Courier"/>
              </a:rPr>
              <a:t>KdtPAnoplg)</a:t>
            </a:r>
            <a:br/>
            <a:r>
              <a:rPr>
                <a:latin typeface="Courier"/>
              </a:rPr>
              <a:t>lysis</a:t>
            </a:r>
            <a:r>
              <a:rPr>
                <a:solidFill>
                  <a:srgbClr val="4070A0"/>
                </a:solidFill>
                <a:latin typeface="Courier"/>
              </a:rPr>
              <a:t>$</a:t>
            </a:r>
            <a:r>
              <a:rPr>
                <a:latin typeface="Courier"/>
              </a:rPr>
              <a:t>KdPLGnicked_log </a:t>
            </a:r>
            <a:r>
              <a:rPr>
                <a:solidFill>
                  <a:srgbClr val="007020"/>
                </a:solidFill>
                <a:latin typeface="Courier"/>
              </a:rPr>
              <a:t>&lt;-</a:t>
            </a:r>
            <a:r>
              <a:rPr>
                <a:latin typeface="Courier"/>
              </a:rPr>
              <a:t> </a:t>
            </a:r>
            <a:r>
              <a:rPr>
                <a:solidFill>
                  <a:srgbClr val="06287E"/>
                </a:solidFill>
                <a:latin typeface="Courier"/>
              </a:rPr>
              <a:t>log</a:t>
            </a:r>
            <a:r>
              <a:rPr>
                <a:latin typeface="Courier"/>
              </a:rPr>
              <a:t>(lysis</a:t>
            </a:r>
            <a:r>
              <a:rPr>
                <a:solidFill>
                  <a:srgbClr val="4070A0"/>
                </a:solidFill>
                <a:latin typeface="Courier"/>
              </a:rPr>
              <a:t>$</a:t>
            </a:r>
            <a:r>
              <a:rPr>
                <a:latin typeface="Courier"/>
              </a:rPr>
              <a:t>KdPLGnicked)</a:t>
            </a:r>
            <a:br/>
            <a:r>
              <a:rPr>
                <a:latin typeface="Courier"/>
              </a:rPr>
              <a:t>lysis</a:t>
            </a:r>
            <a:r>
              <a:rPr>
                <a:solidFill>
                  <a:srgbClr val="4070A0"/>
                </a:solidFill>
                <a:latin typeface="Courier"/>
              </a:rPr>
              <a:t>$</a:t>
            </a:r>
            <a:r>
              <a:rPr>
                <a:latin typeface="Courier"/>
              </a:rPr>
              <a:t>KdPLGintact_log </a:t>
            </a:r>
            <a:r>
              <a:rPr>
                <a:solidFill>
                  <a:srgbClr val="007020"/>
                </a:solidFill>
                <a:latin typeface="Courier"/>
              </a:rPr>
              <a:t>&lt;-</a:t>
            </a:r>
            <a:r>
              <a:rPr>
                <a:latin typeface="Courier"/>
              </a:rPr>
              <a:t> </a:t>
            </a:r>
            <a:r>
              <a:rPr>
                <a:solidFill>
                  <a:srgbClr val="06287E"/>
                </a:solidFill>
                <a:latin typeface="Courier"/>
              </a:rPr>
              <a:t>log</a:t>
            </a:r>
            <a:r>
              <a:rPr>
                <a:latin typeface="Courier"/>
              </a:rPr>
              <a:t>(lysis</a:t>
            </a:r>
            <a:r>
              <a:rPr>
                <a:solidFill>
                  <a:srgbClr val="4070A0"/>
                </a:solidFill>
                <a:latin typeface="Courier"/>
              </a:rPr>
              <a:t>$</a:t>
            </a:r>
            <a:r>
              <a:rPr>
                <a:latin typeface="Courier"/>
              </a:rPr>
              <a:t>KdPLGintact)</a:t>
            </a:r>
            <a:br/>
            <a:r>
              <a:rPr>
                <a:latin typeface="Courier"/>
              </a:rPr>
              <a:t>lysis</a:t>
            </a:r>
            <a:r>
              <a:rPr>
                <a:solidFill>
                  <a:srgbClr val="4070A0"/>
                </a:solidFill>
                <a:latin typeface="Courier"/>
              </a:rPr>
              <a:t>$</a:t>
            </a:r>
            <a:r>
              <a:rPr>
                <a:latin typeface="Courier"/>
              </a:rPr>
              <a:t>kdeg_kncat_log </a:t>
            </a:r>
            <a:r>
              <a:rPr>
                <a:solidFill>
                  <a:srgbClr val="007020"/>
                </a:solidFill>
                <a:latin typeface="Courier"/>
              </a:rPr>
              <a:t>&lt;-</a:t>
            </a:r>
            <a:r>
              <a:rPr>
                <a:latin typeface="Courier"/>
              </a:rPr>
              <a:t> </a:t>
            </a:r>
            <a:r>
              <a:rPr>
                <a:solidFill>
                  <a:srgbClr val="06287E"/>
                </a:solidFill>
                <a:latin typeface="Courier"/>
              </a:rPr>
              <a:t>log</a:t>
            </a:r>
            <a:r>
              <a:rPr>
                <a:latin typeface="Courier"/>
              </a:rPr>
              <a:t>(lysis</a:t>
            </a:r>
            <a:r>
              <a:rPr>
                <a:solidFill>
                  <a:srgbClr val="4070A0"/>
                </a:solidFill>
                <a:latin typeface="Courier"/>
              </a:rPr>
              <a:t>$</a:t>
            </a:r>
            <a:r>
              <a:rPr>
                <a:latin typeface="Courier"/>
              </a:rPr>
              <a:t>kdeg.and.kncat)</a:t>
            </a:r>
            <a:br/>
            <a:br/>
            <a:r>
              <a:rPr i="1">
                <a:solidFill>
                  <a:srgbClr val="60A0B0"/>
                </a:solidFill>
                <a:latin typeface="Courier"/>
              </a:rPr>
              <a:t># Keep transformed predictors + original Snap.Proportion</a:t>
            </a:r>
            <a:br/>
            <a:r>
              <a:rPr>
                <a:latin typeface="Courier"/>
              </a:rPr>
              <a:t>lysis_trans </a:t>
            </a:r>
            <a:r>
              <a:rPr>
                <a:solidFill>
                  <a:srgbClr val="007020"/>
                </a:solidFill>
                <a:latin typeface="Courier"/>
              </a:rPr>
              <a:t>&lt;-</a:t>
            </a:r>
            <a:r>
              <a:rPr>
                <a:latin typeface="Courier"/>
              </a:rPr>
              <a:t> </a:t>
            </a:r>
            <a:r>
              <a:rPr>
                <a:solidFill>
                  <a:srgbClr val="06287E"/>
                </a:solidFill>
                <a:latin typeface="Courier"/>
              </a:rPr>
              <a:t>data.frame</a:t>
            </a:r>
            <a:r>
              <a:rPr>
                <a:latin typeface="Courier"/>
              </a:rPr>
              <a:t>(</a:t>
            </a:r>
            <a:br/>
            <a:r>
              <a:rPr>
                <a:latin typeface="Courier"/>
              </a:rPr>
              <a:t>  </a:t>
            </a:r>
            <a:r>
              <a:rPr>
                <a:solidFill>
                  <a:srgbClr val="7D9029"/>
                </a:solidFill>
                <a:latin typeface="Courier"/>
              </a:rPr>
              <a:t>Snap.Proportion =</a:t>
            </a:r>
            <a:r>
              <a:rPr>
                <a:latin typeface="Courier"/>
              </a:rPr>
              <a:t> lysis</a:t>
            </a:r>
            <a:r>
              <a:rPr>
                <a:solidFill>
                  <a:srgbClr val="4070A0"/>
                </a:solidFill>
                <a:latin typeface="Courier"/>
              </a:rPr>
              <a:t>$</a:t>
            </a:r>
            <a:r>
              <a:rPr>
                <a:latin typeface="Courier"/>
              </a:rPr>
              <a:t>Snap.Proportion,</a:t>
            </a:r>
            <a:br/>
            <a:r>
              <a:rPr>
                <a:latin typeface="Courier"/>
              </a:rPr>
              <a:t>  </a:t>
            </a:r>
            <a:r>
              <a:rPr>
                <a:solidFill>
                  <a:srgbClr val="7D9029"/>
                </a:solidFill>
                <a:latin typeface="Courier"/>
              </a:rPr>
              <a:t>ktPAon_log =</a:t>
            </a:r>
            <a:r>
              <a:rPr>
                <a:latin typeface="Courier"/>
              </a:rPr>
              <a:t> lysis</a:t>
            </a:r>
            <a:r>
              <a:rPr>
                <a:solidFill>
                  <a:srgbClr val="4070A0"/>
                </a:solidFill>
                <a:latin typeface="Courier"/>
              </a:rPr>
              <a:t>$</a:t>
            </a:r>
            <a:r>
              <a:rPr>
                <a:latin typeface="Courier"/>
              </a:rPr>
              <a:t>ktPAon_log,</a:t>
            </a:r>
            <a:br/>
            <a:r>
              <a:rPr>
                <a:latin typeface="Courier"/>
              </a:rPr>
              <a:t>  </a:t>
            </a:r>
            <a:r>
              <a:rPr>
                <a:solidFill>
                  <a:srgbClr val="7D9029"/>
                </a:solidFill>
                <a:latin typeface="Courier"/>
              </a:rPr>
              <a:t>kplioff_log =</a:t>
            </a:r>
            <a:r>
              <a:rPr>
                <a:latin typeface="Courier"/>
              </a:rPr>
              <a:t> lysis</a:t>
            </a:r>
            <a:r>
              <a:rPr>
                <a:solidFill>
                  <a:srgbClr val="4070A0"/>
                </a:solidFill>
                <a:latin typeface="Courier"/>
              </a:rPr>
              <a:t>$</a:t>
            </a:r>
            <a:r>
              <a:rPr>
                <a:latin typeface="Courier"/>
              </a:rPr>
              <a:t>kplioff_log,</a:t>
            </a:r>
            <a:br/>
            <a:r>
              <a:rPr>
                <a:latin typeface="Courier"/>
              </a:rPr>
              <a:t>  </a:t>
            </a:r>
            <a:r>
              <a:rPr>
                <a:solidFill>
                  <a:srgbClr val="7D9029"/>
                </a:solidFill>
                <a:latin typeface="Courier"/>
              </a:rPr>
              <a:t>kplgon_log =</a:t>
            </a:r>
            <a:r>
              <a:rPr>
                <a:latin typeface="Courier"/>
              </a:rPr>
              <a:t> lysis</a:t>
            </a:r>
            <a:r>
              <a:rPr>
                <a:solidFill>
                  <a:srgbClr val="4070A0"/>
                </a:solidFill>
                <a:latin typeface="Courier"/>
              </a:rPr>
              <a:t>$</a:t>
            </a:r>
            <a:r>
              <a:rPr>
                <a:latin typeface="Courier"/>
              </a:rPr>
              <a:t>kplgon_log,</a:t>
            </a:r>
            <a:br/>
            <a:r>
              <a:rPr>
                <a:latin typeface="Courier"/>
              </a:rPr>
              <a:t>  </a:t>
            </a:r>
            <a:r>
              <a:rPr>
                <a:solidFill>
                  <a:srgbClr val="7D9029"/>
                </a:solidFill>
                <a:latin typeface="Courier"/>
              </a:rPr>
              <a:t>KdtPAyesplg_log =</a:t>
            </a:r>
            <a:r>
              <a:rPr>
                <a:latin typeface="Courier"/>
              </a:rPr>
              <a:t> lysis</a:t>
            </a:r>
            <a:r>
              <a:rPr>
                <a:solidFill>
                  <a:srgbClr val="4070A0"/>
                </a:solidFill>
                <a:latin typeface="Courier"/>
              </a:rPr>
              <a:t>$</a:t>
            </a:r>
            <a:r>
              <a:rPr>
                <a:latin typeface="Courier"/>
              </a:rPr>
              <a:t>KdtPAyesplg_log,</a:t>
            </a:r>
            <a:br/>
            <a:r>
              <a:rPr>
                <a:latin typeface="Courier"/>
              </a:rPr>
              <a:t>  </a:t>
            </a:r>
            <a:r>
              <a:rPr>
                <a:solidFill>
                  <a:srgbClr val="7D9029"/>
                </a:solidFill>
                <a:latin typeface="Courier"/>
              </a:rPr>
              <a:t>KdtPAnoplg_log =</a:t>
            </a:r>
            <a:r>
              <a:rPr>
                <a:latin typeface="Courier"/>
              </a:rPr>
              <a:t> lysis</a:t>
            </a:r>
            <a:r>
              <a:rPr>
                <a:solidFill>
                  <a:srgbClr val="4070A0"/>
                </a:solidFill>
                <a:latin typeface="Courier"/>
              </a:rPr>
              <a:t>$</a:t>
            </a:r>
            <a:r>
              <a:rPr>
                <a:latin typeface="Courier"/>
              </a:rPr>
              <a:t>KdtPAnoplg_log,</a:t>
            </a:r>
            <a:br/>
            <a:r>
              <a:rPr>
                <a:latin typeface="Courier"/>
              </a:rPr>
              <a:t>  </a:t>
            </a:r>
            <a:r>
              <a:rPr>
                <a:solidFill>
                  <a:srgbClr val="7D9029"/>
                </a:solidFill>
                <a:latin typeface="Courier"/>
              </a:rPr>
              <a:t>KdPLGnicked_log =</a:t>
            </a:r>
            <a:r>
              <a:rPr>
                <a:latin typeface="Courier"/>
              </a:rPr>
              <a:t> lysis</a:t>
            </a:r>
            <a:r>
              <a:rPr>
                <a:solidFill>
                  <a:srgbClr val="4070A0"/>
                </a:solidFill>
                <a:latin typeface="Courier"/>
              </a:rPr>
              <a:t>$</a:t>
            </a:r>
            <a:r>
              <a:rPr>
                <a:latin typeface="Courier"/>
              </a:rPr>
              <a:t>KdPLGnicked_log,</a:t>
            </a:r>
            <a:br/>
            <a:r>
              <a:rPr>
                <a:latin typeface="Courier"/>
              </a:rPr>
              <a:t>  </a:t>
            </a:r>
            <a:r>
              <a:rPr>
                <a:solidFill>
                  <a:srgbClr val="7D9029"/>
                </a:solidFill>
                <a:latin typeface="Courier"/>
              </a:rPr>
              <a:t>KdPLGintact_log =</a:t>
            </a:r>
            <a:r>
              <a:rPr>
                <a:latin typeface="Courier"/>
              </a:rPr>
              <a:t> lysis</a:t>
            </a:r>
            <a:r>
              <a:rPr>
                <a:solidFill>
                  <a:srgbClr val="4070A0"/>
                </a:solidFill>
                <a:latin typeface="Courier"/>
              </a:rPr>
              <a:t>$</a:t>
            </a:r>
            <a:r>
              <a:rPr>
                <a:latin typeface="Courier"/>
              </a:rPr>
              <a:t>KdPLGintact_log,</a:t>
            </a:r>
            <a:br/>
            <a:r>
              <a:rPr>
                <a:latin typeface="Courier"/>
              </a:rPr>
              <a:t>  </a:t>
            </a:r>
            <a:r>
              <a:rPr>
                <a:solidFill>
                  <a:srgbClr val="7D9029"/>
                </a:solidFill>
                <a:latin typeface="Courier"/>
              </a:rPr>
              <a:t>kdeg_kncat_log =</a:t>
            </a:r>
            <a:r>
              <a:rPr>
                <a:latin typeface="Courier"/>
              </a:rPr>
              <a:t> lysis</a:t>
            </a:r>
            <a:r>
              <a:rPr>
                <a:solidFill>
                  <a:srgbClr val="4070A0"/>
                </a:solidFill>
                <a:latin typeface="Courier"/>
              </a:rPr>
              <a:t>$</a:t>
            </a:r>
            <a:r>
              <a:rPr>
                <a:latin typeface="Courier"/>
              </a:rPr>
              <a:t>kdeg_kncat_log,</a:t>
            </a:r>
            <a:br/>
            <a:r>
              <a:rPr>
                <a:latin typeface="Courier"/>
              </a:rPr>
              <a:t>  </a:t>
            </a:r>
            <a:r>
              <a:rPr>
                <a:solidFill>
                  <a:srgbClr val="7D9029"/>
                </a:solidFill>
                <a:latin typeface="Courier"/>
              </a:rPr>
              <a:t>medianlysis =</a:t>
            </a:r>
            <a:r>
              <a:rPr>
                <a:latin typeface="Courier"/>
              </a:rPr>
              <a:t> lysis</a:t>
            </a:r>
            <a:r>
              <a:rPr>
                <a:solidFill>
                  <a:srgbClr val="4070A0"/>
                </a:solidFill>
                <a:latin typeface="Courier"/>
              </a:rPr>
              <a:t>$</a:t>
            </a:r>
            <a:r>
              <a:rPr>
                <a:latin typeface="Courier"/>
              </a:rPr>
              <a:t>medianlysis</a:t>
            </a:r>
            <a:br/>
            <a:r>
              <a:rPr>
                <a:latin typeface="Courier"/>
              </a:rPr>
              <a:t>)</a:t>
            </a:r>
            <a:br/>
            <a:br/>
            <a:r>
              <a:rPr i="1">
                <a:solidFill>
                  <a:srgbClr val="60A0B0"/>
                </a:solidFill>
                <a:latin typeface="Courier"/>
              </a:rPr>
              <a:t># Quick check</a:t>
            </a:r>
            <a:br/>
            <a:r>
              <a:rPr>
                <a:solidFill>
                  <a:srgbClr val="06287E"/>
                </a:solidFill>
                <a:latin typeface="Courier"/>
              </a:rPr>
              <a:t>summary</a:t>
            </a:r>
            <a:r>
              <a:rPr>
                <a:latin typeface="Courier"/>
              </a:rPr>
              <a:t>(lysis_trans)</a:t>
            </a:r>
          </a:p>
          <a:p>
            <a:pPr lvl="0" indent="0">
              <a:buNone/>
            </a:pPr>
            <a:r>
              <a:rPr>
                <a:latin typeface="Courier"/>
              </a:rPr>
              <a:t>##  Snap.Proportion    ktPAon_log      kplioff_log        kplgon_log    
##  Min.   :0.1250   Min.   :-6.908   Min.   :-0.5516   Min.   :-6.908  
##  1st Qu.:0.6667   1st Qu.:-2.303   1st Qu.: 4.0535   1st Qu.:-2.303  
##  Median :0.6667   Median :-2.303   Median : 4.0535   Median :-2.303  
##  Mean   :0.6319   Mean   :-2.851   Mean   : 4.0535   Mean   :-2.303  
##  3rd Qu.:0.6667   3rd Qu.:-2.303   3rd Qu.: 4.0535   3rd Qu.:-2.303  
##  Max.   :0.6667   Max.   : 2.303   Max.   : 8.6587   Max.   : 2.303  
##  KdtPAyesplg_log   KdtPAnoplg_log   KdPLGnicked_log   KdPLGintact_log  
##  Min.   :-8.5172   Min.   :-5.627   Min.   :-3.8167   Min.   :-0.9676  
##  1st Qu.:-3.9120   1st Qu.:-1.022   1st Qu.: 0.7885   1st Qu.: 3.6376  
##  Median :-3.9120   Median :-1.022   Median : 0.7885   Median : 3.6376  
##  Mean   :-3.9120   Mean   :-1.022   Mean   : 0.7885   Mean   : 3.6376  
##  3rd Qu.:-3.9120   3rd Qu.:-1.022   3rd Qu.: 0.7885   3rd Qu.: 3.6376  
##  Max.   : 0.6931   Max.   : 3.584   Max.   : 5.3936   Max.   : 8.2428  
##  kdeg_kncat_log    medianlysis     
##  Min.   :-2.996   Min.   : 0.2645  
##  1st Qu.: 1.609   1st Qu.: 0.4538  
##  Median : 1.609   Median : 0.5399  
##  Mean   : 1.609   Mean   : 1.6513  
##  3rd Qu.: 1.609   3rd Qu.: 1.6116  
##  Max.   : 6.215   Max.   :20.5649</a:t>
            </a:r>
          </a:p>
          <a:p>
            <a:pPr lvl="0" indent="0">
              <a:buNone/>
            </a:pPr>
            <a:r>
              <a:rPr>
                <a:solidFill>
                  <a:srgbClr val="06287E"/>
                </a:solidFill>
                <a:latin typeface="Courier"/>
              </a:rPr>
              <a:t>par</a:t>
            </a:r>
            <a:r>
              <a:rPr>
                <a:latin typeface="Courier"/>
              </a:rPr>
              <a:t>(</a:t>
            </a:r>
            <a:r>
              <a:rPr>
                <a:solidFill>
                  <a:srgbClr val="7D9029"/>
                </a:solidFill>
                <a:latin typeface="Courier"/>
              </a:rPr>
              <a:t>mfrow=</a:t>
            </a:r>
            <a:r>
              <a:rPr>
                <a:solidFill>
                  <a:srgbClr val="06287E"/>
                </a:solidFill>
                <a:latin typeface="Courier"/>
              </a:rPr>
              <a:t>c</a:t>
            </a:r>
            <a:r>
              <a:rPr>
                <a:latin typeface="Courier"/>
              </a:rPr>
              <a:t>(</a:t>
            </a:r>
            <a:r>
              <a:rPr>
                <a:solidFill>
                  <a:srgbClr val="40A070"/>
                </a:solidFill>
                <a:latin typeface="Courier"/>
              </a:rPr>
              <a:t>3</a:t>
            </a:r>
            <a:r>
              <a:rPr>
                <a:latin typeface="Courier"/>
              </a:rPr>
              <a:t>,</a:t>
            </a:r>
            <a:r>
              <a:rPr>
                <a:solidFill>
                  <a:srgbClr val="40A070"/>
                </a:solidFill>
                <a:latin typeface="Courier"/>
              </a:rPr>
              <a:t>3</a:t>
            </a:r>
            <a:r>
              <a:rPr>
                <a:latin typeface="Courier"/>
              </a:rPr>
              <a:t>))</a:t>
            </a:r>
            <a:br/>
            <a:r>
              <a:rPr b="1">
                <a:solidFill>
                  <a:srgbClr val="007020"/>
                </a:solidFill>
                <a:latin typeface="Courier"/>
              </a:rPr>
              <a:t>for</a:t>
            </a:r>
            <a:r>
              <a:rPr>
                <a:latin typeface="Courier"/>
              </a:rPr>
              <a:t>(i </a:t>
            </a:r>
            <a:r>
              <a:rPr b="1">
                <a:solidFill>
                  <a:srgbClr val="007020"/>
                </a:solidFill>
                <a:latin typeface="Courier"/>
              </a:rPr>
              <a:t>in</a:t>
            </a:r>
            <a:r>
              <a:rPr>
                <a:latin typeface="Courier"/>
              </a:rPr>
              <a:t> </a:t>
            </a:r>
            <a:r>
              <a:rPr>
                <a:solidFill>
                  <a:srgbClr val="40A070"/>
                </a:solidFill>
                <a:latin typeface="Courier"/>
              </a:rPr>
              <a:t>1</a:t>
            </a:r>
            <a:r>
              <a:rPr>
                <a:solidFill>
                  <a:srgbClr val="4070A0"/>
                </a:solidFill>
                <a:latin typeface="Courier"/>
              </a:rPr>
              <a:t>:</a:t>
            </a:r>
            <a:r>
              <a:rPr>
                <a:solidFill>
                  <a:srgbClr val="40A070"/>
                </a:solidFill>
                <a:latin typeface="Courier"/>
              </a:rPr>
              <a:t>9</a:t>
            </a:r>
            <a:r>
              <a:rPr>
                <a:latin typeface="Courier"/>
              </a:rPr>
              <a:t>) </a:t>
            </a:r>
            <a:r>
              <a:rPr>
                <a:solidFill>
                  <a:srgbClr val="06287E"/>
                </a:solidFill>
                <a:latin typeface="Courier"/>
              </a:rPr>
              <a:t>hist</a:t>
            </a:r>
            <a:r>
              <a:rPr>
                <a:latin typeface="Courier"/>
              </a:rPr>
              <a:t>(lysis_trans[[i]], </a:t>
            </a:r>
            <a:r>
              <a:rPr>
                <a:solidFill>
                  <a:srgbClr val="7D9029"/>
                </a:solidFill>
                <a:latin typeface="Courier"/>
              </a:rPr>
              <a:t>main=</a:t>
            </a:r>
            <a:r>
              <a:rPr>
                <a:solidFill>
                  <a:srgbClr val="06287E"/>
                </a:solidFill>
                <a:latin typeface="Courier"/>
              </a:rPr>
              <a:t>names</a:t>
            </a:r>
            <a:r>
              <a:rPr>
                <a:latin typeface="Courier"/>
              </a:rPr>
              <a:t>(lysis_trans)[i])</a:t>
            </a:r>
          </a:p>
        </p:txBody>
      </p:sp>
      <p:pic>
        <p:nvPicPr>
          <p:cNvPr descr="Fibrinolysis_Regression_files/figure-pptx/unnamed-chunk-7-1.png" id="0" name="Picture 1"/>
          <p:cNvPicPr>
            <a:picLocks noGrp="1" noChangeAspect="1"/>
          </p:cNvPicPr>
          <p:nvPr/>
        </p:nvPicPr>
        <p:blipFill>
          <a:blip r:embed="rId2"/>
          <a:stretch>
            <a:fillRect/>
          </a:stretch>
        </p:blipFill>
        <p:spPr bwMode="auto">
          <a:xfrm>
            <a:off x="3568700" y="355600"/>
            <a:ext cx="5105400" cy="40894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4" name="Text Placeholder 3"/>
              <p:cNvSpPr>
                <a:spLocks noGrp="1"/>
              </p:cNvSpPr>
              <p:nvPr>
                <p:ph idx="2" sz="half" type="body"/>
              </p:nvPr>
            </p:nvSpPr>
            <p:spPr/>
            <p:txBody>
              <a:bodyPr/>
              <a:lstStyle/>
              <a:p>
                <a:pPr lvl="0" indent="0" marL="0">
                  <a:buNone/>
                </a:pPr>
                <a:r>
                  <a:rPr/>
                  <a:t> So based on this transformation I can interpret that:</a:t>
                </a:r>
              </a:p>
              <a:p>
                <a:pPr lvl="0" indent="0" marL="0">
                  <a:buNone/>
                </a:pPr>
                <a:r>
                  <a:rPr/>
                  <a:t>There are concentrated bars after transformation, this is mainly due to the fact that: 1) Limited distinct values in the original data. 2) Small sample size (n = 42)</a:t>
                </a:r>
              </a:p>
              <a:p>
                <a:pPr lvl="0" indent="0" marL="0">
                  <a:buNone/>
                </a:pPr>
                <a:r>
                  <a:rPr/>
                  <a:t>I don’t necessarily consider it to be a problem. For regression You don’t need perfectly normal distributions for predictors. The thing that matters the most is the relationships are more linear and variance is more stable. The concentration in the center is often better than the original extreme right skew.</a:t>
                </a:r>
              </a:p>
              <a:p>
                <a:pPr lvl="0" indent="0" marL="0">
                  <a:buNone/>
                </a:pPr>
                <a:r>
                  <a:rPr/>
                  <a:t>Hence the log transformation successfully addressed the extreme right skewness observed in most of the kinetic parameters.</a:t>
                </a:r>
              </a:p>
              <a:p>
                <a:pPr lvl="0" indent="0" marL="0">
                  <a:spcBef>
                    <a:spcPts val="3000"/>
                  </a:spcBef>
                  <a:buNone/>
                </a:pPr>
                <a:r>
                  <a:rPr b="1"/>
                  <a:t>Model Fitting after Log Transformation</a:t>
                </a:r>
              </a:p>
              <a:p>
                <a:pPr lvl="0" indent="0">
                  <a:buNone/>
                </a:pPr>
                <a:r>
                  <a:rPr i="1">
                    <a:solidFill>
                      <a:srgbClr val="60A0B0"/>
                    </a:solidFill>
                    <a:latin typeface="Courier"/>
                  </a:rPr>
                  <a:t>#Model Fitting</a:t>
                </a:r>
                <a:br/>
                <a:br/>
                <a:r>
                  <a:rPr>
                    <a:latin typeface="Courier"/>
                  </a:rPr>
                  <a:t>lysis_lm </a:t>
                </a:r>
                <a:r>
                  <a:rPr>
                    <a:solidFill>
                      <a:srgbClr val="007020"/>
                    </a:solidFill>
                    <a:latin typeface="Courier"/>
                  </a:rPr>
                  <a:t>&lt;-</a:t>
                </a:r>
                <a:r>
                  <a:rPr>
                    <a:latin typeface="Courier"/>
                  </a:rPr>
                  <a:t> </a:t>
                </a:r>
                <a:r>
                  <a:rPr>
                    <a:solidFill>
                      <a:srgbClr val="06287E"/>
                    </a:solidFill>
                    <a:latin typeface="Courier"/>
                  </a:rPr>
                  <a:t>lm</a:t>
                </a:r>
                <a:r>
                  <a:rPr>
                    <a:latin typeface="Courier"/>
                  </a:rPr>
                  <a:t>(medianlysis </a:t>
                </a:r>
                <a:r>
                  <a:rPr>
                    <a:solidFill>
                      <a:srgbClr val="4070A0"/>
                    </a:solidFill>
                    <a:latin typeface="Courier"/>
                  </a:rPr>
                  <a:t>~</a:t>
                </a:r>
                <a:r>
                  <a:rPr>
                    <a:latin typeface="Courier"/>
                  </a:rPr>
                  <a:t>., </a:t>
                </a:r>
                <a:r>
                  <a:rPr>
                    <a:solidFill>
                      <a:srgbClr val="7D9029"/>
                    </a:solidFill>
                    <a:latin typeface="Courier"/>
                  </a:rPr>
                  <a:t>data =</a:t>
                </a:r>
                <a:r>
                  <a:rPr>
                    <a:latin typeface="Courier"/>
                  </a:rPr>
                  <a:t> lysis_trans)</a:t>
                </a:r>
                <a:br/>
                <a:br/>
                <a:r>
                  <a:rPr>
                    <a:solidFill>
                      <a:srgbClr val="06287E"/>
                    </a:solidFill>
                    <a:latin typeface="Courier"/>
                  </a:rPr>
                  <a:t>summary</a:t>
                </a:r>
                <a:r>
                  <a:rPr>
                    <a:latin typeface="Courier"/>
                  </a:rPr>
                  <a:t>(lysis_lm)</a:t>
                </a:r>
              </a:p>
              <a:p>
                <a:pPr lvl="0" indent="0">
                  <a:buNone/>
                </a:pPr>
                <a:r>
                  <a:rPr>
                    <a:latin typeface="Courier"/>
                  </a:rPr>
                  <a:t>## 
## Call:
## lm(formula = medianlysis ~ ., data = lysis_trans)
## 
## Residuals:
##     Min      1Q  Median      3Q     Max 
## -3.4956 -1.0023 -0.7485  0.0317 10.5510 
## 
## Coefficients:
##                  Estimate Std. Error t value Pr(&gt;|t|)    
## (Intercept)      3.513138   3.375143   1.041   0.3057    
## Snap.Proportion  2.847863   3.544619   0.803   0.4277    
## ktPAon_log      -0.380244   0.218683  -1.739   0.0917 .  
## kplioff_log     -0.476968   0.255970  -1.863   0.0716 .  
## kplgon_log       0.013815   0.361997   0.038   0.9698    
## KdtPAyesplg_log -0.005168   0.361997  -0.014   0.9887    
## KdtPAnoplg_log  -0.241107   0.361997  -0.666   0.5102    
## KdPLGnicked_log -0.004321   0.361997  -0.012   0.9905    
## KdPLGintact_log -0.022688   0.361997  -0.063   0.9504    
## kdeg_kncat_log  -1.839663   0.361997  -5.082 1.57e-05 ***
## ---
## Signif. codes:  0 '***' 0.001 '**' 0.01 '*' 0.05 '.' 0.1 ' ' 1
## 
## Residual standard error: 2.636 on 32 degrees of freedom
## Multiple R-squared:  0.5129, Adjusted R-squared:  0.3759 
## F-statistic: 3.744 on 9 and 32 DF,  p-value: 0.002637</a:t>
                </a:r>
              </a:p>
              <a:p>
                <a:pPr lvl="0" indent="0" marL="0">
                  <a:buNone/>
                </a:pPr>
                <a:r>
                  <a:rPr/>
                  <a:t>The initial model with all predictors and the untransformed response variable performed poorly. The global F-test p-value of 0.989 indicates that the model as a whole is not statistically significant at any conventional level (</a:t>
                </a:r>
                <a14:m>
                  <m:oMath xmlns:m="http://schemas.openxmlformats.org/officeDocument/2006/math">
                    <m:r>
                      <m:t>α</m:t>
                    </m:r>
                  </m:oMath>
                </a14:m>
                <a:r>
                  <a:rPr/>
                  <a:t> = 0.05). This means we cannot reject the null hypothesis that all regression coefficients are zero. These results clearly indicate that transformations or alternative modeling approaches are necessary.</a:t>
                </a:r>
              </a:p>
              <a:p>
                <a:pPr lvl="0" indent="0" marL="0">
                  <a:buNone/>
                </a:pPr>
                <a:r>
                  <a:rPr/>
                  <a:t>After the Logarithmic Transformation of independent variables:</a:t>
                </a:r>
              </a:p>
              <a:p>
                <a:pPr lvl="0" indent="0" marL="0">
                  <a:buNone/>
                </a:pPr>
                <a:r>
                  <a:rPr/>
                  <a:t>Global </a:t>
                </a:r>
                <a14:m>
                  <m:oMath xmlns:m="http://schemas.openxmlformats.org/officeDocument/2006/math">
                    <m:r>
                      <m:t>F</m:t>
                    </m:r>
                  </m:oMath>
                </a14:m>
                <a:r>
                  <a:rPr/>
                  <a:t>-test:</a:t>
                </a:r>
              </a:p>
              <a:p>
                <a:pPr lvl="0" indent="0" marL="0">
                  <a:buNone/>
                </a:pPr>
                <a14:m>
                  <m:oMath xmlns:m="http://schemas.openxmlformats.org/officeDocument/2006/math">
                    <m:sSub>
                      <m:e>
                        <m:r>
                          <m:t>H</m:t>
                        </m:r>
                      </m:e>
                      <m:sub>
                        <m:r>
                          <m:t>0</m:t>
                        </m:r>
                      </m:sub>
                    </m:sSub>
                    <m:r>
                      <m:rPr>
                        <m:sty m:val="p"/>
                      </m:rPr>
                      <m:t>:</m:t>
                    </m:r>
                    <m:sSub>
                      <m:e>
                        <m:r>
                          <m:t>β</m:t>
                        </m:r>
                      </m:e>
                      <m:sub>
                        <m:r>
                          <m:t>1</m:t>
                        </m:r>
                      </m:sub>
                    </m:sSub>
                    <m:r>
                      <m:rPr>
                        <m:sty m:val="p"/>
                      </m:rPr>
                      <m:t>=</m:t>
                    </m:r>
                    <m:sSub>
                      <m:e>
                        <m:r>
                          <m:t>β</m:t>
                        </m:r>
                      </m:e>
                      <m:sub>
                        <m:r>
                          <m:t>2</m:t>
                        </m:r>
                      </m:sub>
                    </m:sSub>
                    <m:r>
                      <m:rPr>
                        <m:sty m:val="p"/>
                      </m:rPr>
                      <m:t>=</m:t>
                    </m:r>
                    <m:r>
                      <m:rPr>
                        <m:sty m:val="p"/>
                      </m:rPr>
                      <m:t>.</m:t>
                    </m:r>
                    <m:r>
                      <m:rPr>
                        <m:sty m:val="p"/>
                      </m:rPr>
                      <m:t>.</m:t>
                    </m:r>
                    <m:r>
                      <m:rPr>
                        <m:sty m:val="p"/>
                      </m:rPr>
                      <m:t>.</m:t>
                    </m:r>
                    <m:r>
                      <m:rPr>
                        <m:sty m:val="p"/>
                      </m:rPr>
                      <m:t>.</m:t>
                    </m:r>
                    <m:r>
                      <m:rPr>
                        <m:sty m:val="p"/>
                      </m:rPr>
                      <m:t>.</m:t>
                    </m:r>
                    <m:r>
                      <m:rPr>
                        <m:sty m:val="p"/>
                      </m:rPr>
                      <m:t>.</m:t>
                    </m:r>
                    <m:r>
                      <m:rPr>
                        <m:sty m:val="p"/>
                      </m:rPr>
                      <m:t>=</m:t>
                    </m:r>
                    <m:r>
                      <m:t>0</m:t>
                    </m:r>
                  </m:oMath>
                </a14:m>
              </a:p>
              <a:p>
                <a:pPr lvl="0" indent="0" marL="0">
                  <a:buNone/>
                </a:pPr>
                <a14:m>
                  <m:oMath xmlns:m="http://schemas.openxmlformats.org/officeDocument/2006/math">
                    <m:sSub>
                      <m:e>
                        <m:r>
                          <m:t>H</m:t>
                        </m:r>
                      </m:e>
                      <m:sub>
                        <m:r>
                          <m:t>1</m:t>
                        </m:r>
                      </m:sub>
                    </m:sSub>
                    <m:r>
                      <m:rPr>
                        <m:sty m:val="p"/>
                      </m:rPr>
                      <m:t>:</m:t>
                    </m:r>
                  </m:oMath>
                </a14:m>
                <a:r>
                  <a:rPr/>
                  <a:t> At least one </a:t>
                </a:r>
                <a14:m>
                  <m:oMath xmlns:m="http://schemas.openxmlformats.org/officeDocument/2006/math">
                    <m:sSub>
                      <m:e>
                        <m:r>
                          <m:t>β</m:t>
                        </m:r>
                      </m:e>
                      <m:sub>
                        <m:r>
                          <m:t>i</m:t>
                        </m:r>
                      </m:sub>
                    </m:sSub>
                    <m:r>
                      <m:rPr>
                        <m:sty m:val="p"/>
                      </m:rPr>
                      <m:t>≠</m:t>
                    </m:r>
                    <m:r>
                      <m:t>0</m:t>
                    </m:r>
                  </m:oMath>
                </a14:m>
              </a:p>
              <a:p>
                <a:pPr lvl="0" indent="0" marL="0">
                  <a:buNone/>
                </a:pPr>
                <a14:m>
                  <m:oMath xmlns:m="http://schemas.openxmlformats.org/officeDocument/2006/math">
                    <m:r>
                      <m:t>F</m:t>
                    </m:r>
                    <m:r>
                      <m:rPr>
                        <m:sty m:val="p"/>
                      </m:rPr>
                      <m:t>=</m:t>
                    </m:r>
                    <m:r>
                      <m:t>3.744</m:t>
                    </m:r>
                  </m:oMath>
                </a14:m>
              </a:p>
              <a:p>
                <a:pPr lvl="0" indent="0" marL="0">
                  <a:buNone/>
                </a:pPr>
                <a14:m>
                  <m:oMath xmlns:m="http://schemas.openxmlformats.org/officeDocument/2006/math">
                    <m:r>
                      <m:t>p</m:t>
                    </m:r>
                    <m:r>
                      <m:rPr>
                        <m:sty m:val="p"/>
                      </m:rPr>
                      <m:t>=</m:t>
                    </m:r>
                    <m:r>
                      <m:t>0.002637</m:t>
                    </m:r>
                    <m:r>
                      <m:rPr>
                        <m:sty m:val="p"/>
                      </m:rPr>
                      <m:t>&lt;</m:t>
                    </m:r>
                    <m:r>
                      <m:t>0.05</m:t>
                    </m:r>
                  </m:oMath>
                </a14:m>
              </a:p>
              <a:p>
                <a:pPr lvl="0" indent="0" marL="0">
                  <a:buNone/>
                </a:pPr>
                <a:r>
                  <a:rPr/>
                  <a:t>Reject </a:t>
                </a:r>
                <a14:m>
                  <m:oMath xmlns:m="http://schemas.openxmlformats.org/officeDocument/2006/math">
                    <m:sSub>
                      <m:e>
                        <m:r>
                          <m:t>H</m:t>
                        </m:r>
                      </m:e>
                      <m:sub>
                        <m:r>
                          <m:t>0</m:t>
                        </m:r>
                      </m:sub>
                    </m:sSub>
                  </m:oMath>
                </a14:m>
                <a:r>
                  <a:rPr/>
                  <a:t>, sufficient evidence to conclude the model is useful</a:t>
                </a:r>
              </a:p>
              <a:p>
                <a:pPr lvl="0" indent="0" marL="0">
                  <a:buNone/>
                </a:pPr>
                <a:r>
                  <a:rPr/>
                  <a:t>The Transformed regression model performed well and is statistically significant with an Adjusted R squared of 0.3759, which means that the regression model explains 37.59% of variance in median lysis. This is far better than our original model, but I would like to improve the adjusted R squared since only ~37% of variance is being explained.</a:t>
                </a:r>
              </a:p>
              <a:p>
                <a:pPr lvl="0" indent="0" marL="0">
                  <a:spcBef>
                    <a:spcPts val="3000"/>
                  </a:spcBef>
                  <a:buNone/>
                </a:pPr>
                <a:r>
                  <a:rPr b="1"/>
                  <a:t>boxcox transformation</a:t>
                </a:r>
              </a:p>
              <a:p>
                <a:pPr lvl="0" indent="0">
                  <a:buNone/>
                </a:pPr>
                <a:r>
                  <a:rPr>
                    <a:solidFill>
                      <a:srgbClr val="06287E"/>
                    </a:solidFill>
                    <a:latin typeface="Courier"/>
                  </a:rPr>
                  <a:t>boxcox</a:t>
                </a:r>
                <a:r>
                  <a:rPr>
                    <a:latin typeface="Courier"/>
                  </a:rPr>
                  <a:t>(lysis_lm)</a:t>
                </a:r>
              </a:p>
            </p:txBody>
          </p:sp>
        </mc:Choice>
      </mc:AlternateContent>
      <p:pic>
        <p:nvPicPr>
          <p:cNvPr descr="Fibrinolysis_Regression_files/figure-pptx/unnamed-chunk-9-1.png" id="0" name="Picture 1"/>
          <p:cNvPicPr>
            <a:picLocks noGrp="1" noChangeAspect="1"/>
          </p:cNvPicPr>
          <p:nvPr/>
        </p:nvPicPr>
        <p:blipFill>
          <a:blip r:embed="rId2"/>
          <a:stretch>
            <a:fillRect/>
          </a:stretch>
        </p:blipFill>
        <p:spPr bwMode="auto">
          <a:xfrm>
            <a:off x="3568700" y="355600"/>
            <a:ext cx="5105400" cy="4089400"/>
          </a:xfrm>
          <a:prstGeom prst="rect">
            <a:avLst/>
          </a:prstGeom>
          <a:noFill/>
          <a:ln w="9525">
            <a:noFill/>
            <a:headEnd/>
            <a:tailEnd/>
          </a:ln>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p>
          <a:p>
            <a:pPr lvl="0" indent="0" marL="0">
              <a:buNone/>
            </a:pPr>
            <a:r>
              <a:rPr/>
              <a:t>The Box-Cox transformation analysis suggests an optimal lambda value close to -1, which corresponds to the reciprocal transformation (1/Y). This indicates that the response variable (median lysis) also requires transformation to better meet the assumptions of linear regression.</a:t>
            </a:r>
          </a:p>
          <a:p>
            <a:pPr lvl="0" indent="0" marL="0">
              <a:spcBef>
                <a:spcPts val="3000"/>
              </a:spcBef>
              <a:buNone/>
            </a:pPr>
            <a:r>
              <a:rPr b="1"/>
              <a:t>Reciprocal Transformation of Y</a:t>
            </a:r>
          </a:p>
          <a:p>
            <a:pPr lvl="0" indent="0">
              <a:buNone/>
            </a:pPr>
            <a:r>
              <a:rPr>
                <a:latin typeface="Courier"/>
              </a:rPr>
              <a:t>lysis_trans</a:t>
            </a:r>
            <a:r>
              <a:rPr>
                <a:solidFill>
                  <a:srgbClr val="4070A0"/>
                </a:solidFill>
                <a:latin typeface="Courier"/>
              </a:rPr>
              <a:t>$</a:t>
            </a:r>
            <a:r>
              <a:rPr>
                <a:latin typeface="Courier"/>
              </a:rPr>
              <a:t>medianlysis </a:t>
            </a:r>
            <a:r>
              <a:rPr>
                <a:solidFill>
                  <a:srgbClr val="007020"/>
                </a:solidFill>
                <a:latin typeface="Courier"/>
              </a:rPr>
              <a:t>&lt;-</a:t>
            </a:r>
            <a:r>
              <a:rPr>
                <a:latin typeface="Courier"/>
              </a:rPr>
              <a:t> </a:t>
            </a:r>
            <a:r>
              <a:rPr>
                <a:solidFill>
                  <a:srgbClr val="40A070"/>
                </a:solidFill>
                <a:latin typeface="Courier"/>
              </a:rPr>
              <a:t>1</a:t>
            </a:r>
            <a:r>
              <a:rPr>
                <a:solidFill>
                  <a:srgbClr val="4070A0"/>
                </a:solidFill>
                <a:latin typeface="Courier"/>
              </a:rPr>
              <a:t>/</a:t>
            </a:r>
            <a:r>
              <a:rPr>
                <a:latin typeface="Courier"/>
              </a:rPr>
              <a:t>(lysis_trans</a:t>
            </a:r>
            <a:r>
              <a:rPr>
                <a:solidFill>
                  <a:srgbClr val="4070A0"/>
                </a:solidFill>
                <a:latin typeface="Courier"/>
              </a:rPr>
              <a:t>$</a:t>
            </a:r>
            <a:r>
              <a:rPr>
                <a:latin typeface="Courier"/>
              </a:rPr>
              <a:t>medianlysis) </a:t>
            </a:r>
            <a:r>
              <a:rPr i="1">
                <a:solidFill>
                  <a:srgbClr val="60A0B0"/>
                </a:solidFill>
                <a:latin typeface="Courier"/>
              </a:rPr>
              <a:t># this would push the inverse of medianlysis to medianlysis variable - the name remains unchanged but the transformation happens</a:t>
            </a:r>
            <a:br/>
            <a:br/>
            <a:r>
              <a:rPr i="1">
                <a:solidFill>
                  <a:srgbClr val="60A0B0"/>
                </a:solidFill>
                <a:latin typeface="Courier"/>
              </a:rPr>
              <a:t># refitting the model with transformed data</a:t>
            </a:r>
            <a:br/>
            <a:br/>
            <a:r>
              <a:rPr>
                <a:latin typeface="Courier"/>
              </a:rPr>
              <a:t>trans_lysis_lm </a:t>
            </a:r>
            <a:r>
              <a:rPr>
                <a:solidFill>
                  <a:srgbClr val="007020"/>
                </a:solidFill>
                <a:latin typeface="Courier"/>
              </a:rPr>
              <a:t>&lt;-</a:t>
            </a:r>
            <a:r>
              <a:rPr>
                <a:latin typeface="Courier"/>
              </a:rPr>
              <a:t> </a:t>
            </a:r>
            <a:r>
              <a:rPr>
                <a:solidFill>
                  <a:srgbClr val="06287E"/>
                </a:solidFill>
                <a:latin typeface="Courier"/>
              </a:rPr>
              <a:t>lm</a:t>
            </a:r>
            <a:r>
              <a:rPr>
                <a:latin typeface="Courier"/>
              </a:rPr>
              <a:t>(medianlysis </a:t>
            </a:r>
            <a:r>
              <a:rPr>
                <a:solidFill>
                  <a:srgbClr val="4070A0"/>
                </a:solidFill>
                <a:latin typeface="Courier"/>
              </a:rPr>
              <a:t>~</a:t>
            </a:r>
            <a:r>
              <a:rPr>
                <a:latin typeface="Courier"/>
              </a:rPr>
              <a:t>., </a:t>
            </a:r>
            <a:r>
              <a:rPr>
                <a:solidFill>
                  <a:srgbClr val="7D9029"/>
                </a:solidFill>
                <a:latin typeface="Courier"/>
              </a:rPr>
              <a:t>data =</a:t>
            </a:r>
            <a:r>
              <a:rPr>
                <a:latin typeface="Courier"/>
              </a:rPr>
              <a:t> lysis_trans)</a:t>
            </a:r>
            <a:br/>
            <a:br/>
            <a:r>
              <a:rPr>
                <a:solidFill>
                  <a:srgbClr val="06287E"/>
                </a:solidFill>
                <a:latin typeface="Courier"/>
              </a:rPr>
              <a:t>summary</a:t>
            </a:r>
            <a:r>
              <a:rPr>
                <a:latin typeface="Courier"/>
              </a:rPr>
              <a:t>(trans_lysis_lm)</a:t>
            </a:r>
          </a:p>
          <a:p>
            <a:pPr lvl="0" indent="0">
              <a:buNone/>
            </a:pPr>
            <a:r>
              <a:rPr>
                <a:latin typeface="Courier"/>
              </a:rPr>
              <a:t>## 
## Call:
## lm(formula = medianlysis ~ ., data = lysis_trans)
## 
## Residuals:
##      Min       1Q   Median       3Q      Max 
## -1.07513 -0.12941  0.02219  0.20119  0.75753 
## 
## Coefficients:
##                 Estimate Std. Error t value Pr(&gt;|t|)    
## (Intercept)      3.47635    0.54362   6.395 3.48e-07 ***
## Snap.Proportion -2.47596    0.57092  -4.337 0.000135 ***
## ktPAon_log       0.34749    0.03522   9.865 3.15e-11 ***
## kplioff_log      0.11895    0.04123   2.885 0.006948 ** 
## kplgon_log      -0.06423    0.05831  -1.102 0.278858    
## KdtPAyesplg_log  0.01949    0.05831   0.334 0.740365    
## KdtPAnoplg_log   0.41269    0.05831   7.078 4.99e-08 ***
## KdPLGnicked_log  0.01389    0.05831   0.238 0.813157    
## KdPLGintact_log  0.02104    0.05831   0.361 0.720549    
## kdeg_kncat_log   0.34842    0.05831   5.976 1.16e-06 ***
## ---
## Signif. codes:  0 '***' 0.001 '**' 0.01 '*' 0.05 '.' 0.1 ' ' 1
## 
## Residual standard error: 0.4245 on 32 degrees of freedom
## Multiple R-squared:  0.8732, Adjusted R-squared:  0.8375 
## F-statistic: 24.48 on 9 and 32 DF,  p-value: 6.366e-12</a:t>
            </a:r>
          </a:p>
          <a:p>
            <a:pPr lvl="0" indent="0" marL="0">
              <a:buNone/>
            </a:pPr>
            <a:r>
              <a:rPr/>
              <a:t>After applying the reciprocal transformation to the dependent variable, the model performance improved substantially. This suggests that the model with all predictors does have some predictive power. The adjusted R-squared increased to 0.8375, meaning the model now explains approximately 83.75% of the variance in the transformed median lysis time. While this is a significant improvement from the initial original model, i would like to take a step further and perform analysis on which predictors best explain the variance in median lysis. Also the model still indicates that a substantial portion of the variability remains unexplained. This is mainly due to the experimental data that has been obtained. The experimental data had observations that have been scaled 10x times for each experiments which might have been marked as potential outliers.</a:t>
            </a:r>
          </a:p>
          <a:p>
            <a:pPr lvl="0" indent="0" marL="0">
              <a:spcBef>
                <a:spcPts val="3000"/>
              </a:spcBef>
              <a:buNone/>
            </a:pPr>
            <a:r>
              <a:rPr b="1"/>
              <a:t>Further Analysis</a:t>
            </a:r>
          </a:p>
          <a:p>
            <a:pPr lvl="0" indent="0" marL="0">
              <a:spcBef>
                <a:spcPts val="3000"/>
              </a:spcBef>
              <a:buNone/>
            </a:pPr>
            <a:r>
              <a:rPr b="1"/>
              <a:t>1) VIF</a:t>
            </a:r>
          </a:p>
          <a:p>
            <a:pPr lvl="0" indent="0">
              <a:buNone/>
            </a:pPr>
            <a:r>
              <a:rPr i="1">
                <a:solidFill>
                  <a:srgbClr val="60A0B0"/>
                </a:solidFill>
                <a:latin typeface="Courier"/>
              </a:rPr>
              <a:t># Checking for multi-collinearity</a:t>
            </a:r>
            <a:br/>
            <a:r>
              <a:rPr>
                <a:solidFill>
                  <a:srgbClr val="06287E"/>
                </a:solidFill>
                <a:latin typeface="Courier"/>
              </a:rPr>
              <a:t>vif</a:t>
            </a:r>
            <a:r>
              <a:rPr>
                <a:latin typeface="Courier"/>
              </a:rPr>
              <a:t>(trans_lysis_lm) </a:t>
            </a:r>
            <a:r>
              <a:rPr i="1">
                <a:solidFill>
                  <a:srgbClr val="60A0B0"/>
                </a:solidFill>
                <a:latin typeface="Courier"/>
              </a:rPr>
              <a:t># No multi-collinearity present all are less than 10 (cut-off)</a:t>
            </a:r>
          </a:p>
          <a:p>
            <a:pPr lvl="0" indent="0">
              <a:buNone/>
            </a:pPr>
            <a:r>
              <a:rPr>
                <a:latin typeface="Courier"/>
              </a:rPr>
              <a:t>## Snap.Proportion      ktPAon_log     kplioff_log      kplgon_log KdtPAyesplg_log 
##        1.007932        1.007932        1.000000        1.000000        1.000000 
##  KdtPAnoplg_log KdPLGnicked_log KdPLGintact_log  kdeg_kncat_log 
##        1.000000        1.000000        1.000000        1.000000</a:t>
            </a:r>
          </a:p>
          <a:p>
            <a:pPr lvl="0" indent="0" marL="0">
              <a:buNone/>
            </a:pPr>
            <a:r>
              <a:rPr/>
              <a:t>The variance inflation factors (VIFs) for all predictors are below the commonly used threshold of 10, indicating that multi-collinearity is not a serious concern in this model. This is an important finding because high multi-collinearity can make coefficient estimates unstable and difficult to interpret. The fact that all VIFs are reasonable suggests that each predictor provides somewhat unique information about the response variable.</a:t>
            </a:r>
          </a:p>
          <a:p>
            <a:pPr lvl="0" indent="0" marL="0">
              <a:spcBef>
                <a:spcPts val="3000"/>
              </a:spcBef>
              <a:buNone/>
            </a:pPr>
            <a:r>
              <a:rPr b="1"/>
              <a:t>2) Variable screening</a:t>
            </a:r>
          </a:p>
          <a:p>
            <a:pPr lvl="0" indent="0">
              <a:buNone/>
            </a:pPr>
            <a:r>
              <a:rPr>
                <a:latin typeface="Courier"/>
              </a:rPr>
              <a:t>fwd </a:t>
            </a:r>
            <a:r>
              <a:rPr>
                <a:solidFill>
                  <a:srgbClr val="007020"/>
                </a:solidFill>
                <a:latin typeface="Courier"/>
              </a:rPr>
              <a:t>&lt;-</a:t>
            </a:r>
            <a:r>
              <a:rPr>
                <a:latin typeface="Courier"/>
              </a:rPr>
              <a:t> </a:t>
            </a:r>
            <a:r>
              <a:rPr>
                <a:solidFill>
                  <a:srgbClr val="06287E"/>
                </a:solidFill>
                <a:latin typeface="Courier"/>
              </a:rPr>
              <a:t>lm</a:t>
            </a:r>
            <a:r>
              <a:rPr>
                <a:latin typeface="Courier"/>
              </a:rPr>
              <a:t>(medianlysis </a:t>
            </a:r>
            <a:r>
              <a:rPr>
                <a:solidFill>
                  <a:srgbClr val="4070A0"/>
                </a:solidFill>
                <a:latin typeface="Courier"/>
              </a:rPr>
              <a:t>~</a:t>
            </a:r>
            <a:r>
              <a:rPr>
                <a:latin typeface="Courier"/>
              </a:rPr>
              <a:t> </a:t>
            </a:r>
            <a:r>
              <a:rPr>
                <a:solidFill>
                  <a:srgbClr val="40A070"/>
                </a:solidFill>
                <a:latin typeface="Courier"/>
              </a:rPr>
              <a:t>1</a:t>
            </a:r>
            <a:r>
              <a:rPr>
                <a:latin typeface="Courier"/>
              </a:rPr>
              <a:t>, </a:t>
            </a:r>
            <a:r>
              <a:rPr>
                <a:solidFill>
                  <a:srgbClr val="7D9029"/>
                </a:solidFill>
                <a:latin typeface="Courier"/>
              </a:rPr>
              <a:t>data =</a:t>
            </a:r>
            <a:r>
              <a:rPr>
                <a:latin typeface="Courier"/>
              </a:rPr>
              <a:t> lysis_trans)</a:t>
            </a:r>
            <a:br/>
            <a:r>
              <a:rPr>
                <a:latin typeface="Courier"/>
              </a:rPr>
              <a:t>out_fwd </a:t>
            </a:r>
            <a:r>
              <a:rPr>
                <a:solidFill>
                  <a:srgbClr val="007020"/>
                </a:solidFill>
                <a:latin typeface="Courier"/>
              </a:rPr>
              <a:t>&lt;-</a:t>
            </a:r>
            <a:r>
              <a:rPr>
                <a:latin typeface="Courier"/>
              </a:rPr>
              <a:t> </a:t>
            </a:r>
            <a:r>
              <a:rPr>
                <a:solidFill>
                  <a:srgbClr val="06287E"/>
                </a:solidFill>
                <a:latin typeface="Courier"/>
              </a:rPr>
              <a:t>step</a:t>
            </a:r>
            <a:r>
              <a:rPr>
                <a:latin typeface="Courier"/>
              </a:rPr>
              <a:t>(fwd, </a:t>
            </a:r>
            <a:r>
              <a:rPr>
                <a:solidFill>
                  <a:srgbClr val="7D9029"/>
                </a:solidFill>
                <a:latin typeface="Courier"/>
              </a:rPr>
              <a:t>scope =</a:t>
            </a:r>
            <a:r>
              <a:rPr>
                <a:latin typeface="Courier"/>
              </a:rPr>
              <a:t> </a:t>
            </a:r>
            <a:r>
              <a:rPr>
                <a:solidFill>
                  <a:srgbClr val="4070A0"/>
                </a:solidFill>
                <a:latin typeface="Courier"/>
              </a:rPr>
              <a:t>~</a:t>
            </a:r>
            <a:r>
              <a:rPr>
                <a:latin typeface="Courier"/>
              </a:rPr>
              <a:t> Snap.Proportion </a:t>
            </a:r>
            <a:r>
              <a:rPr>
                <a:solidFill>
                  <a:srgbClr val="4070A0"/>
                </a:solidFill>
                <a:latin typeface="Courier"/>
              </a:rPr>
              <a:t>+</a:t>
            </a:r>
            <a:r>
              <a:rPr>
                <a:latin typeface="Courier"/>
              </a:rPr>
              <a:t> ktPAon_log </a:t>
            </a:r>
            <a:r>
              <a:rPr>
                <a:solidFill>
                  <a:srgbClr val="4070A0"/>
                </a:solidFill>
                <a:latin typeface="Courier"/>
              </a:rPr>
              <a:t>+</a:t>
            </a:r>
            <a:r>
              <a:rPr>
                <a:latin typeface="Courier"/>
              </a:rPr>
              <a:t> kplioff_log </a:t>
            </a:r>
            <a:r>
              <a:rPr>
                <a:solidFill>
                  <a:srgbClr val="4070A0"/>
                </a:solidFill>
                <a:latin typeface="Courier"/>
              </a:rPr>
              <a:t>+</a:t>
            </a:r>
            <a:r>
              <a:rPr>
                <a:latin typeface="Courier"/>
              </a:rPr>
              <a:t> kplgon_log </a:t>
            </a:r>
            <a:r>
              <a:rPr>
                <a:solidFill>
                  <a:srgbClr val="4070A0"/>
                </a:solidFill>
                <a:latin typeface="Courier"/>
              </a:rPr>
              <a:t>+</a:t>
            </a:r>
            <a:r>
              <a:rPr>
                <a:latin typeface="Courier"/>
              </a:rPr>
              <a:t> KdtPAyesplg_log </a:t>
            </a:r>
            <a:r>
              <a:rPr>
                <a:solidFill>
                  <a:srgbClr val="4070A0"/>
                </a:solidFill>
                <a:latin typeface="Courier"/>
              </a:rPr>
              <a:t>+</a:t>
            </a:r>
            <a:r>
              <a:rPr>
                <a:latin typeface="Courier"/>
              </a:rPr>
              <a:t> KdtPAnoplg_log </a:t>
            </a:r>
            <a:r>
              <a:rPr>
                <a:solidFill>
                  <a:srgbClr val="4070A0"/>
                </a:solidFill>
                <a:latin typeface="Courier"/>
              </a:rPr>
              <a:t>+</a:t>
            </a:r>
            <a:r>
              <a:rPr>
                <a:latin typeface="Courier"/>
              </a:rPr>
              <a:t>KdPLGnicked_log</a:t>
            </a:r>
            <a:r>
              <a:rPr>
                <a:solidFill>
                  <a:srgbClr val="4070A0"/>
                </a:solidFill>
                <a:latin typeface="Courier"/>
              </a:rPr>
              <a:t>+</a:t>
            </a:r>
            <a:r>
              <a:rPr>
                <a:latin typeface="Courier"/>
              </a:rPr>
              <a:t> KdPLGintact_log</a:t>
            </a:r>
            <a:r>
              <a:rPr>
                <a:solidFill>
                  <a:srgbClr val="4070A0"/>
                </a:solidFill>
                <a:latin typeface="Courier"/>
              </a:rPr>
              <a:t>+</a:t>
            </a:r>
            <a:r>
              <a:rPr>
                <a:latin typeface="Courier"/>
              </a:rPr>
              <a:t>kdeg_kncat_log , </a:t>
            </a:r>
            <a:r>
              <a:rPr>
                <a:solidFill>
                  <a:srgbClr val="7D9029"/>
                </a:solidFill>
                <a:latin typeface="Courier"/>
              </a:rPr>
              <a:t>direction =</a:t>
            </a:r>
            <a:r>
              <a:rPr>
                <a:latin typeface="Courier"/>
              </a:rPr>
              <a:t> </a:t>
            </a:r>
            <a:r>
              <a:rPr>
                <a:solidFill>
                  <a:srgbClr val="4070A0"/>
                </a:solidFill>
                <a:latin typeface="Courier"/>
              </a:rPr>
              <a:t>"forward"</a:t>
            </a:r>
            <a:r>
              <a:rPr>
                <a:latin typeface="Courier"/>
              </a:rPr>
              <a:t>)</a:t>
            </a:r>
          </a:p>
          <a:p>
            <a:pPr lvl="0" indent="0">
              <a:buNone/>
            </a:pPr>
            <a:r>
              <a:rPr>
                <a:latin typeface="Courier"/>
              </a:rPr>
              <a:t>## Start:  AIC=5.35
## medianlysis ~ 1
## 
##                   Df Sum of Sq    RSS      AIC
## + ktPAon_log       1   19.0872 26.396 -15.5064
## + KdtPAnoplg_log   1    9.0297 36.454  -1.9480
## + kdeg_kncat_log   1    6.4363 39.047   0.9385
## + Snap.Proportion  1    4.9349 40.549   2.5231
## &lt;none&gt;                         45.484   5.3467
## + kplioff_log      1    1.5003 43.983   5.9379
## + kplgon_log       1    0.2187 45.265   7.1443
## + KdPLGintact_log  1    0.0235 45.460   7.3250
## + KdtPAyesplg_log  1    0.0201 45.464   7.3281
## + KdPLGnicked_log  1    0.0102 45.473   7.3373
## 
## Step:  AIC=-15.51
## medianlysis ~ ktPAon_log
## 
##                   Df Sum of Sq    RSS     AIC
## + KdtPAnoplg_log   1    9.0297 17.367 -31.091
## + kdeg_kncat_log   1    6.4363 19.960 -25.245
## + Snap.Proportion  1    3.3899 23.007 -19.279
## + kplioff_log      1    1.5003 24.896 -15.964
## &lt;none&gt;                         26.396 -15.506
## + kplgon_log       1    0.2187 26.178 -13.856
## + KdPLGintact_log  1    0.0235 26.373 -13.544
## + KdtPAyesplg_log  1    0.0201 26.376 -13.539
## + KdPLGnicked_log  1    0.0102 26.386 -13.523
## 
## Step:  AIC=-31.09
## medianlysis ~ ktPAon_log + KdtPAnoplg_log
## 
##                   Df Sum of Sq    RSS     AIC
## + kdeg_kncat_log   1    6.4363 10.931 -48.537
## + Snap.Proportion  1    3.3899 13.977 -38.211
## + kplioff_log      1    1.5003 15.866 -32.885
## &lt;none&gt;                         17.367 -31.091
## + kplgon_log       1    0.2187 17.148 -29.623
## + KdPLGintact_log  1    0.0235 17.343 -29.147
## + KdtPAyesplg_log  1    0.0201 17.347 -29.139
## + KdPLGnicked_log  1    0.0102 17.357 -29.115
## 
## Step:  AIC=-48.54
## medianlysis ~ ktPAon_log + KdtPAnoplg_log + kdeg_kncat_log
## 
##                   Df Sum of Sq     RSS     AIC
## + Snap.Proportion  1    3.3899  7.5406 -62.130
## + kplioff_log      1    1.5003  9.4301 -52.738
## &lt;none&gt;                         10.9305 -48.537
## + kplgon_log       1    0.2187 10.7118 -47.386
## + KdPLGintact_log  1    0.0235 10.9070 -46.627
## + KdtPAyesplg_log  1    0.0201 10.9103 -46.614
## + KdPLGnicked_log  1    0.0102 10.9202 -46.576
## 
## Step:  AIC=-62.13
## medianlysis ~ ktPAon_log + KdtPAnoplg_log + kdeg_kncat_log + 
##     Snap.Proportion
## 
##                   Df Sum of Sq    RSS     AIC
## + kplioff_log      1   1.50034 6.0402 -69.448
## &lt;none&gt;                         7.5406 -62.130
## + kplgon_log       1   0.21872 7.3219 -61.366
## + KdPLGintact_log  1   0.02348 7.5171 -60.261
## + KdtPAyesplg_log  1   0.02014 7.5204 -60.242
## + KdPLGnicked_log  1   0.01024 7.5303 -60.187
## 
## Step:  AIC=-69.45
## medianlysis ~ ktPAon_log + KdtPAnoplg_log + kdeg_kncat_log + 
##     Snap.Proportion + kplioff_log
## 
##                   Df Sum of Sq    RSS     AIC
## &lt;none&gt;                         6.0402 -69.448
## + kplgon_log       1  0.218720 5.8215 -68.997
## + KdPLGintact_log  1  0.023475 6.0168 -67.611
## + KdtPAyesplg_log  1  0.020138 6.0201 -67.588
## + KdPLGnicked_log  1  0.010236 6.0300 -67.519</a:t>
            </a:r>
          </a:p>
          <a:p>
            <a:pPr lvl="0" indent="0">
              <a:buNone/>
            </a:pPr>
            <a:r>
              <a:rPr>
                <a:solidFill>
                  <a:srgbClr val="06287E"/>
                </a:solidFill>
                <a:latin typeface="Courier"/>
              </a:rPr>
              <a:t>summary</a:t>
            </a:r>
            <a:r>
              <a:rPr>
                <a:latin typeface="Courier"/>
              </a:rPr>
              <a:t>(out_fwd)</a:t>
            </a:r>
          </a:p>
          <a:p>
            <a:pPr lvl="0" indent="0">
              <a:buNone/>
            </a:pPr>
            <a:r>
              <a:rPr>
                <a:latin typeface="Courier"/>
              </a:rPr>
              <a:t>## 
## Call:
## lm(formula = medianlysis ~ ktPAon_log + KdtPAnoplg_log + kdeg_kncat_log + 
##     Snap.Proportion + kplioff_log, data = lysis_trans)
## 
## Residuals:
##      Min       1Q   Median       3Q      Max 
## -1.07513 -0.13543  0.04008  0.18990  0.75753 
## 
## Coefficients:
##                 Estimate Std. Error t value Pr(&gt;|t|)    
## (Intercept)      3.63550    0.40749   8.922 1.19e-10 ***
## ktPAon_log       0.34749    0.03398  10.225 3.42e-12 ***
## KdtPAnoplg_log   0.41269    0.05625   7.336 1.20e-08 ***
## kdeg_kncat_log   0.34842    0.05625   6.194 3.83e-07 ***
## Snap.Proportion -2.47596    0.55084  -4.495 6.95e-05 ***
## kplioff_log      0.11895    0.03978   2.990    0.005 ** 
## ---
## Signif. codes:  0 '***' 0.001 '**' 0.01 '*' 0.05 '.' 0.1 ' ' 1
## 
## Residual standard error: 0.4096 on 36 degrees of freedom
## Multiple R-squared:  0.8672, Adjusted R-squared:  0.8488 
## F-statistic: 47.02 on 5 and 36 DF,  p-value: 8.568e-15</a:t>
            </a:r>
          </a:p>
          <a:p>
            <a:pPr lvl="0" indent="0" marL="0">
              <a:buNone/>
            </a:pPr>
            <a:r>
              <a:rPr/>
              <a:t>The forward stepwise selection procedure identified a more parsimonious model by systematically adding variables that improve model fit.</a:t>
            </a:r>
          </a:p>
          <a:p>
            <a:pPr lvl="0" indent="0" marL="0">
              <a:buNone/>
            </a:pPr>
            <a:r>
              <a:rPr/>
              <a:t>The AIC decreased from 5.35 (for the null model with only an intercept) to -69.45 for the final selected model. Since lower AIC values indicate better model fit while penalizing for model complexity, this substantial drop confirms that the selected predictors significantly improve the model beyond what we’d expect from chance alone. The final model from forward selection shows little increase in Adjusted R squared when compared to full model, indicating stronger statistical significance. suggesting that while we’ve identified the most important predictors, there may be inherent limitations in how well these variables can predict fibrinolysis rates.</a:t>
            </a:r>
          </a:p>
          <a:p>
            <a:pPr lvl="0" indent="0" marL="0">
              <a:spcBef>
                <a:spcPts val="3000"/>
              </a:spcBef>
              <a:buNone/>
            </a:pPr>
            <a:r>
              <a:rPr b="1"/>
              <a:t>3) All-Possible-Regressions Selection Procedure</a:t>
            </a:r>
          </a:p>
          <a:p>
            <a:pPr lvl="0" indent="0">
              <a:buNone/>
            </a:pPr>
            <a:r>
              <a:rPr>
                <a:latin typeface="Courier"/>
              </a:rPr>
              <a:t>subset_model </a:t>
            </a:r>
            <a:r>
              <a:rPr>
                <a:solidFill>
                  <a:srgbClr val="007020"/>
                </a:solidFill>
                <a:latin typeface="Courier"/>
              </a:rPr>
              <a:t>&lt;-</a:t>
            </a:r>
            <a:r>
              <a:rPr>
                <a:latin typeface="Courier"/>
              </a:rPr>
              <a:t> </a:t>
            </a:r>
            <a:r>
              <a:rPr>
                <a:solidFill>
                  <a:srgbClr val="06287E"/>
                </a:solidFill>
                <a:latin typeface="Courier"/>
              </a:rPr>
              <a:t>regsubsets</a:t>
            </a:r>
            <a:r>
              <a:rPr>
                <a:latin typeface="Courier"/>
              </a:rPr>
              <a:t>(medianlysis </a:t>
            </a:r>
            <a:r>
              <a:rPr>
                <a:solidFill>
                  <a:srgbClr val="4070A0"/>
                </a:solidFill>
                <a:latin typeface="Courier"/>
              </a:rPr>
              <a:t>~</a:t>
            </a:r>
            <a:r>
              <a:rPr>
                <a:latin typeface="Courier"/>
              </a:rPr>
              <a:t> kdeg_kncat_log </a:t>
            </a:r>
            <a:r>
              <a:rPr>
                <a:solidFill>
                  <a:srgbClr val="4070A0"/>
                </a:solidFill>
                <a:latin typeface="Courier"/>
              </a:rPr>
              <a:t>+</a:t>
            </a:r>
            <a:r>
              <a:rPr>
                <a:latin typeface="Courier"/>
              </a:rPr>
              <a:t> kplioff_log </a:t>
            </a:r>
            <a:r>
              <a:rPr>
                <a:solidFill>
                  <a:srgbClr val="4070A0"/>
                </a:solidFill>
                <a:latin typeface="Courier"/>
              </a:rPr>
              <a:t>+</a:t>
            </a:r>
            <a:r>
              <a:rPr>
                <a:latin typeface="Courier"/>
              </a:rPr>
              <a:t> </a:t>
            </a:r>
            <a:br/>
            <a:r>
              <a:rPr>
                <a:latin typeface="Courier"/>
              </a:rPr>
              <a:t>                           Snap.Proportion </a:t>
            </a:r>
            <a:r>
              <a:rPr>
                <a:solidFill>
                  <a:srgbClr val="4070A0"/>
                </a:solidFill>
                <a:latin typeface="Courier"/>
              </a:rPr>
              <a:t>+</a:t>
            </a:r>
            <a:r>
              <a:rPr>
                <a:latin typeface="Courier"/>
              </a:rPr>
              <a:t> ktPAon_log </a:t>
            </a:r>
            <a:r>
              <a:rPr>
                <a:solidFill>
                  <a:srgbClr val="4070A0"/>
                </a:solidFill>
                <a:latin typeface="Courier"/>
              </a:rPr>
              <a:t>+</a:t>
            </a:r>
            <a:r>
              <a:rPr>
                <a:latin typeface="Courier"/>
              </a:rPr>
              <a:t> KdtPAnoplg_log </a:t>
            </a:r>
            <a:r>
              <a:rPr>
                <a:solidFill>
                  <a:srgbClr val="4070A0"/>
                </a:solidFill>
                <a:latin typeface="Courier"/>
              </a:rPr>
              <a:t>+</a:t>
            </a:r>
            <a:br/>
            <a:r>
              <a:rPr>
                <a:latin typeface="Courier"/>
              </a:rPr>
              <a:t>                           KdtPAyesplg_log </a:t>
            </a:r>
            <a:r>
              <a:rPr>
                <a:solidFill>
                  <a:srgbClr val="4070A0"/>
                </a:solidFill>
                <a:latin typeface="Courier"/>
              </a:rPr>
              <a:t>+</a:t>
            </a:r>
            <a:r>
              <a:rPr>
                <a:latin typeface="Courier"/>
              </a:rPr>
              <a:t> kplgon_log </a:t>
            </a:r>
            <a:r>
              <a:rPr>
                <a:solidFill>
                  <a:srgbClr val="4070A0"/>
                </a:solidFill>
                <a:latin typeface="Courier"/>
              </a:rPr>
              <a:t>+</a:t>
            </a:r>
            <a:r>
              <a:rPr>
                <a:latin typeface="Courier"/>
              </a:rPr>
              <a:t> KdPLGnicked_log </a:t>
            </a:r>
            <a:r>
              <a:rPr>
                <a:solidFill>
                  <a:srgbClr val="4070A0"/>
                </a:solidFill>
                <a:latin typeface="Courier"/>
              </a:rPr>
              <a:t>+</a:t>
            </a:r>
            <a:r>
              <a:rPr>
                <a:latin typeface="Courier"/>
              </a:rPr>
              <a:t> </a:t>
            </a:r>
            <a:br/>
            <a:r>
              <a:rPr>
                <a:latin typeface="Courier"/>
              </a:rPr>
              <a:t>                           KdPLGintact_log,</a:t>
            </a:r>
            <a:br/>
            <a:r>
              <a:rPr>
                <a:latin typeface="Courier"/>
              </a:rPr>
              <a:t>                           </a:t>
            </a:r>
            <a:r>
              <a:rPr>
                <a:solidFill>
                  <a:srgbClr val="7D9029"/>
                </a:solidFill>
                <a:latin typeface="Courier"/>
              </a:rPr>
              <a:t>data =</a:t>
            </a:r>
            <a:r>
              <a:rPr>
                <a:latin typeface="Courier"/>
              </a:rPr>
              <a:t> lysis_trans)</a:t>
            </a:r>
            <a:br/>
            <a:br/>
            <a:r>
              <a:rPr>
                <a:solidFill>
                  <a:srgbClr val="06287E"/>
                </a:solidFill>
                <a:latin typeface="Courier"/>
              </a:rPr>
              <a:t>summary</a:t>
            </a:r>
            <a:r>
              <a:rPr>
                <a:latin typeface="Courier"/>
              </a:rPr>
              <a:t>(subset_model)</a:t>
            </a:r>
            <a:r>
              <a:rPr>
                <a:solidFill>
                  <a:srgbClr val="4070A0"/>
                </a:solidFill>
                <a:latin typeface="Courier"/>
              </a:rPr>
              <a:t>$</a:t>
            </a:r>
            <a:r>
              <a:rPr>
                <a:latin typeface="Courier"/>
              </a:rPr>
              <a:t>outmat</a:t>
            </a:r>
          </a:p>
          <a:p>
            <a:pPr lvl="0" indent="0">
              <a:buNone/>
            </a:pPr>
            <a:r>
              <a:rPr>
                <a:latin typeface="Courier"/>
              </a:rPr>
              <a:t>##          kdeg_kncat_log kplioff_log Snap.Proportion ktPAon_log KdtPAnoplg_log
## 1  ( 1 ) " "            " "         " "             "*"        " "           
## 2  ( 1 ) " "            " "         " "             "*"        "*"           
## 3  ( 1 ) "*"            " "         " "             "*"        "*"           
## 4  ( 1 ) "*"            " "         "*"             "*"        "*"           
## 5  ( 1 ) "*"            "*"         "*"             "*"        "*"           
## 6  ( 1 ) "*"            "*"         "*"             "*"        "*"           
## 7  ( 1 ) "*"            "*"         "*"             "*"        "*"           
## 8  ( 1 ) "*"            "*"         "*"             "*"        "*"           
##          KdtPAyesplg_log kplgon_log KdPLGnicked_log KdPLGintact_log
## 1  ( 1 ) " "             " "        " "             " "            
## 2  ( 1 ) " "             " "        " "             " "            
## 3  ( 1 ) " "             " "        " "             " "            
## 4  ( 1 ) " "             " "        " "             " "            
## 5  ( 1 ) " "             " "        " "             " "            
## 6  ( 1 ) " "             "*"        " "             " "            
## 7  ( 1 ) " "             "*"        " "             "*"            
## 8  ( 1 ) "*"             "*"        " "             "*"</a:t>
            </a:r>
          </a:p>
          <a:p>
            <a:pPr lvl="0" indent="0">
              <a:buNone/>
            </a:pPr>
            <a:r>
              <a:rPr>
                <a:solidFill>
                  <a:srgbClr val="06287E"/>
                </a:solidFill>
                <a:latin typeface="Courier"/>
              </a:rPr>
              <a:t>names</a:t>
            </a:r>
            <a:r>
              <a:rPr>
                <a:latin typeface="Courier"/>
              </a:rPr>
              <a:t>(</a:t>
            </a:r>
            <a:r>
              <a:rPr>
                <a:solidFill>
                  <a:srgbClr val="06287E"/>
                </a:solidFill>
                <a:latin typeface="Courier"/>
              </a:rPr>
              <a:t>summary</a:t>
            </a:r>
            <a:r>
              <a:rPr>
                <a:latin typeface="Courier"/>
              </a:rPr>
              <a:t>(subset_model))</a:t>
            </a:r>
          </a:p>
          <a:p>
            <a:pPr lvl="0" indent="0">
              <a:buNone/>
            </a:pPr>
            <a:r>
              <a:rPr>
                <a:latin typeface="Courier"/>
              </a:rPr>
              <a:t>## [1] "which"  "rsq"    "rss"    "adjr2"  "cp"     "bic"    "outmat" "obj"</a:t>
            </a:r>
          </a:p>
          <a:p>
            <a:pPr lvl="0" indent="0">
              <a:buNone/>
            </a:pPr>
            <a:r>
              <a:rPr>
                <a:solidFill>
                  <a:srgbClr val="06287E"/>
                </a:solidFill>
                <a:latin typeface="Courier"/>
              </a:rPr>
              <a:t>which.min</a:t>
            </a:r>
            <a:r>
              <a:rPr>
                <a:latin typeface="Courier"/>
              </a:rPr>
              <a:t>(</a:t>
            </a:r>
            <a:r>
              <a:rPr>
                <a:solidFill>
                  <a:srgbClr val="06287E"/>
                </a:solidFill>
                <a:latin typeface="Courier"/>
              </a:rPr>
              <a:t>summary</a:t>
            </a:r>
            <a:r>
              <a:rPr>
                <a:latin typeface="Courier"/>
              </a:rPr>
              <a:t>(subset_model)</a:t>
            </a:r>
            <a:r>
              <a:rPr>
                <a:solidFill>
                  <a:srgbClr val="4070A0"/>
                </a:solidFill>
                <a:latin typeface="Courier"/>
              </a:rPr>
              <a:t>$</a:t>
            </a:r>
            <a:r>
              <a:rPr>
                <a:latin typeface="Courier"/>
              </a:rPr>
              <a:t>bic)</a:t>
            </a:r>
          </a:p>
          <a:p>
            <a:pPr lvl="0" indent="0">
              <a:buNone/>
            </a:pPr>
            <a:r>
              <a:rPr>
                <a:latin typeface="Courier"/>
              </a:rPr>
              <a:t>## [1] 5</a:t>
            </a:r>
          </a:p>
          <a:p>
            <a:pPr lvl="0" indent="0">
              <a:buNone/>
            </a:pPr>
            <a:r>
              <a:rPr>
                <a:solidFill>
                  <a:srgbClr val="06287E"/>
                </a:solidFill>
                <a:latin typeface="Courier"/>
              </a:rPr>
              <a:t>which.max</a:t>
            </a:r>
            <a:r>
              <a:rPr>
                <a:latin typeface="Courier"/>
              </a:rPr>
              <a:t>(</a:t>
            </a:r>
            <a:r>
              <a:rPr>
                <a:solidFill>
                  <a:srgbClr val="06287E"/>
                </a:solidFill>
                <a:latin typeface="Courier"/>
              </a:rPr>
              <a:t>summary</a:t>
            </a:r>
            <a:r>
              <a:rPr>
                <a:latin typeface="Courier"/>
              </a:rPr>
              <a:t>(subset_model)</a:t>
            </a:r>
            <a:r>
              <a:rPr>
                <a:solidFill>
                  <a:srgbClr val="4070A0"/>
                </a:solidFill>
                <a:latin typeface="Courier"/>
              </a:rPr>
              <a:t>$</a:t>
            </a:r>
            <a:r>
              <a:rPr>
                <a:latin typeface="Courier"/>
              </a:rPr>
              <a:t>adjr2)</a:t>
            </a:r>
          </a:p>
          <a:p>
            <a:pPr lvl="0" indent="0">
              <a:buNone/>
            </a:pPr>
            <a:r>
              <a:rPr>
                <a:latin typeface="Courier"/>
              </a:rPr>
              <a:t>## [1] 6</a:t>
            </a:r>
          </a:p>
          <a:p>
            <a:pPr lvl="0" indent="0">
              <a:buNone/>
            </a:pPr>
            <a:r>
              <a:rPr>
                <a:solidFill>
                  <a:srgbClr val="06287E"/>
                </a:solidFill>
                <a:latin typeface="Courier"/>
              </a:rPr>
              <a:t>plot</a:t>
            </a:r>
            <a:r>
              <a:rPr>
                <a:latin typeface="Courier"/>
              </a:rPr>
              <a:t>(subset_model, </a:t>
            </a:r>
            <a:r>
              <a:rPr>
                <a:solidFill>
                  <a:srgbClr val="7D9029"/>
                </a:solidFill>
                <a:latin typeface="Courier"/>
              </a:rPr>
              <a:t>scale =</a:t>
            </a:r>
            <a:r>
              <a:rPr>
                <a:latin typeface="Courier"/>
              </a:rPr>
              <a:t> </a:t>
            </a:r>
            <a:r>
              <a:rPr>
                <a:solidFill>
                  <a:srgbClr val="4070A0"/>
                </a:solidFill>
                <a:latin typeface="Courier"/>
              </a:rPr>
              <a:t>"adjr2"</a:t>
            </a:r>
            <a:r>
              <a:rPr>
                <a:latin typeface="Courier"/>
              </a:rPr>
              <a:t>)</a:t>
            </a:r>
          </a:p>
        </p:txBody>
      </p:sp>
      <p:pic>
        <p:nvPicPr>
          <p:cNvPr descr="Fibrinolysis_Regression_files/figure-pptx/unnamed-chunk-13-1.png" id="0" name="Picture 1"/>
          <p:cNvPicPr>
            <a:picLocks noGrp="1" noChangeAspect="1"/>
          </p:cNvPicPr>
          <p:nvPr/>
        </p:nvPicPr>
        <p:blipFill>
          <a:blip r:embed="rId2"/>
          <a:stretch>
            <a:fillRect/>
          </a:stretch>
        </p:blipFill>
        <p:spPr bwMode="auto">
          <a:xfrm>
            <a:off x="3568700" y="355600"/>
            <a:ext cx="5105400" cy="4089400"/>
          </a:xfrm>
          <a:prstGeom prst="rect">
            <a:avLst/>
          </a:prstGeom>
          <a:noFill/>
          <a:ln w="9525">
            <a:noFill/>
            <a:headEnd/>
            <a:tailEnd/>
          </a:ln>
        </p:spPr>
      </p:pic>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p>
          <a:p>
            <a:pPr lvl="0" indent="0" marL="0">
              <a:buNone/>
            </a:pPr>
            <a:r>
              <a:rPr b="1"/>
              <a:t>Figure 4: All-possible regressions comparison plot.</a:t>
            </a:r>
            <a:r>
              <a:rPr/>
              <a:t> This visualization shows how adjusted R-squared changes as we add more variables to the model.</a:t>
            </a:r>
          </a:p>
          <a:p>
            <a:pPr lvl="0" indent="0" marL="0">
              <a:buNone/>
            </a:pPr>
            <a:r>
              <a:rPr/>
              <a:t>My Main goal is to have a good prediction model, so I am considering adjusted-R-squared over BIC which is a 6 variable model.</a:t>
            </a:r>
          </a:p>
          <a:p>
            <a:pPr lvl="0" indent="0" marL="0">
              <a:spcBef>
                <a:spcPts val="3000"/>
              </a:spcBef>
              <a:buNone/>
            </a:pPr>
            <a:r>
              <a:rPr b="1"/>
              <a:t>Modelling Best Possible Regression Model</a:t>
            </a:r>
          </a:p>
          <a:p>
            <a:pPr lvl="0" indent="0">
              <a:buNone/>
            </a:pPr>
            <a:r>
              <a:rPr>
                <a:latin typeface="Courier"/>
              </a:rPr>
              <a:t>best_model </a:t>
            </a:r>
            <a:r>
              <a:rPr>
                <a:solidFill>
                  <a:srgbClr val="007020"/>
                </a:solidFill>
                <a:latin typeface="Courier"/>
              </a:rPr>
              <a:t>&lt;-</a:t>
            </a:r>
            <a:r>
              <a:rPr>
                <a:latin typeface="Courier"/>
              </a:rPr>
              <a:t> </a:t>
            </a:r>
            <a:r>
              <a:rPr>
                <a:solidFill>
                  <a:srgbClr val="06287E"/>
                </a:solidFill>
                <a:latin typeface="Courier"/>
              </a:rPr>
              <a:t>lm</a:t>
            </a:r>
            <a:r>
              <a:rPr>
                <a:latin typeface="Courier"/>
              </a:rPr>
              <a:t>(medianlysis </a:t>
            </a:r>
            <a:r>
              <a:rPr>
                <a:solidFill>
                  <a:srgbClr val="4070A0"/>
                </a:solidFill>
                <a:latin typeface="Courier"/>
              </a:rPr>
              <a:t>~</a:t>
            </a:r>
            <a:r>
              <a:rPr>
                <a:latin typeface="Courier"/>
              </a:rPr>
              <a:t> kdeg_kncat_log </a:t>
            </a:r>
            <a:r>
              <a:rPr>
                <a:solidFill>
                  <a:srgbClr val="4070A0"/>
                </a:solidFill>
                <a:latin typeface="Courier"/>
              </a:rPr>
              <a:t>+</a:t>
            </a:r>
            <a:r>
              <a:rPr>
                <a:latin typeface="Courier"/>
              </a:rPr>
              <a:t> kplioff_log </a:t>
            </a:r>
            <a:r>
              <a:rPr>
                <a:solidFill>
                  <a:srgbClr val="4070A0"/>
                </a:solidFill>
                <a:latin typeface="Courier"/>
              </a:rPr>
              <a:t>+</a:t>
            </a:r>
            <a:r>
              <a:rPr>
                <a:latin typeface="Courier"/>
              </a:rPr>
              <a:t>Snap.Proportion </a:t>
            </a:r>
            <a:r>
              <a:rPr>
                <a:solidFill>
                  <a:srgbClr val="4070A0"/>
                </a:solidFill>
                <a:latin typeface="Courier"/>
              </a:rPr>
              <a:t>+</a:t>
            </a:r>
            <a:r>
              <a:rPr>
                <a:latin typeface="Courier"/>
              </a:rPr>
              <a:t> ktPAon_log </a:t>
            </a:r>
            <a:r>
              <a:rPr>
                <a:solidFill>
                  <a:srgbClr val="4070A0"/>
                </a:solidFill>
                <a:latin typeface="Courier"/>
              </a:rPr>
              <a:t>+</a:t>
            </a:r>
            <a:r>
              <a:rPr>
                <a:latin typeface="Courier"/>
              </a:rPr>
              <a:t> KdtPAnoplg_log </a:t>
            </a:r>
            <a:r>
              <a:rPr>
                <a:solidFill>
                  <a:srgbClr val="4070A0"/>
                </a:solidFill>
                <a:latin typeface="Courier"/>
              </a:rPr>
              <a:t>+</a:t>
            </a:r>
            <a:r>
              <a:rPr>
                <a:latin typeface="Courier"/>
              </a:rPr>
              <a:t> kplgon_log, </a:t>
            </a:r>
            <a:r>
              <a:rPr>
                <a:solidFill>
                  <a:srgbClr val="7D9029"/>
                </a:solidFill>
                <a:latin typeface="Courier"/>
              </a:rPr>
              <a:t>data =</a:t>
            </a:r>
            <a:r>
              <a:rPr>
                <a:latin typeface="Courier"/>
              </a:rPr>
              <a:t> lysis_trans)</a:t>
            </a:r>
            <a:br/>
            <a:br/>
            <a:r>
              <a:rPr>
                <a:solidFill>
                  <a:srgbClr val="06287E"/>
                </a:solidFill>
                <a:latin typeface="Courier"/>
              </a:rPr>
              <a:t>summary</a:t>
            </a:r>
            <a:r>
              <a:rPr>
                <a:latin typeface="Courier"/>
              </a:rPr>
              <a:t>(best_model)</a:t>
            </a:r>
          </a:p>
          <a:p>
            <a:pPr lvl="0" indent="0">
              <a:buNone/>
            </a:pPr>
            <a:r>
              <a:rPr>
                <a:latin typeface="Courier"/>
              </a:rPr>
              <a:t>## 
## Call:
## lm(formula = medianlysis ~ kdeg_kncat_log + kplioff_log + Snap.Proportion + 
##     ktPAon_log + KdtPAnoplg_log + kplgon_log, data = lysis_trans)
## 
## Residuals:
##      Min       1Q   Median       3Q      Max 
## -1.07513 -0.13543  0.03373  0.20983  0.75753 
## 
## Coefficients:
##                 Estimate Std. Error t value Pr(&gt;|t|)    
## (Intercept)      3.48761    0.42573   8.192 1.19e-09 ***
## kdeg_kncat_log   0.34842    0.05601   6.221 3.96e-07 ***
## kplioff_log      0.11895    0.03961   3.003  0.00491 ** 
## Snap.Proportion -2.47596    0.54844  -4.515 6.89e-05 ***
## ktPAon_log       0.34749    0.03384  10.270 4.21e-12 ***
## KdtPAnoplg_log   0.41269    0.05601   7.368 1.29e-08 ***
## kplgon_log      -0.06423    0.05601  -1.147  0.25927    
## ---
## Signif. codes:  0 '***' 0.001 '**' 0.01 '*' 0.05 '.' 0.1 ' ' 1
## 
## Residual standard error: 0.4078 on 35 degrees of freedom
## Multiple R-squared:  0.872,  Adjusted R-squared:  0.8501 
## F-statistic: 39.74 on 6 and 35 DF,  p-value: 3.309e-14</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Global F-Test and Model Summary</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The final best model includes six predictors: </a:t>
                </a:r>
                <a:r>
                  <a:rPr>
                    <a:latin typeface="Courier"/>
                  </a:rPr>
                  <a:t>kdeg_kncat_log</a:t>
                </a:r>
                <a:r>
                  <a:rPr/>
                  <a:t>, </a:t>
                </a:r>
                <a:r>
                  <a:rPr>
                    <a:latin typeface="Courier"/>
                  </a:rPr>
                  <a:t>kplioff_log</a:t>
                </a:r>
                <a:r>
                  <a:rPr/>
                  <a:t>, </a:t>
                </a:r>
                <a:r>
                  <a:rPr>
                    <a:latin typeface="Courier"/>
                  </a:rPr>
                  <a:t>Snap.Proportion</a:t>
                </a:r>
                <a:r>
                  <a:rPr/>
                  <a:t>, </a:t>
                </a:r>
                <a:r>
                  <a:rPr>
                    <a:latin typeface="Courier"/>
                  </a:rPr>
                  <a:t>ktPAon_log</a:t>
                </a:r>
                <a:r>
                  <a:rPr/>
                  <a:t>, </a:t>
                </a:r>
                <a:r>
                  <a:rPr>
                    <a:latin typeface="Courier"/>
                  </a:rPr>
                  <a:t>KdtPAnoplg_log</a:t>
                </a:r>
                <a:r>
                  <a:rPr/>
                  <a:t>, and </a:t>
                </a:r>
                <a:r>
                  <a:rPr>
                    <a:latin typeface="Courier"/>
                  </a:rPr>
                  <a:t>kplgon_log</a:t>
                </a:r>
                <a:r>
                  <a:rPr/>
                  <a:t>. Global </a:t>
                </a:r>
                <a14:m>
                  <m:oMath xmlns:m="http://schemas.openxmlformats.org/officeDocument/2006/math">
                    <m:r>
                      <m:t>F</m:t>
                    </m:r>
                  </m:oMath>
                </a14:m>
                <a:r>
                  <a:rPr/>
                  <a:t>-test</a:t>
                </a:r>
              </a:p>
              <a:p>
                <a:pPr lvl="0" indent="0" marL="0">
                  <a:buNone/>
                </a:pPr>
                <a14:m>
                  <m:oMath xmlns:m="http://schemas.openxmlformats.org/officeDocument/2006/math">
                    <m:sSub>
                      <m:e>
                        <m:r>
                          <m:t>H</m:t>
                        </m:r>
                      </m:e>
                      <m:sub>
                        <m:r>
                          <m:t>0</m:t>
                        </m:r>
                      </m:sub>
                    </m:sSub>
                    <m:r>
                      <m:rPr>
                        <m:sty m:val="p"/>
                      </m:rPr>
                      <m:t>:</m:t>
                    </m:r>
                    <m:sSub>
                      <m:e>
                        <m:r>
                          <m:t>β</m:t>
                        </m:r>
                      </m:e>
                      <m:sub>
                        <m:r>
                          <m:t>1</m:t>
                        </m:r>
                      </m:sub>
                    </m:sSub>
                    <m:r>
                      <m:rPr>
                        <m:sty m:val="p"/>
                      </m:rPr>
                      <m:t>=</m:t>
                    </m:r>
                    <m:sSub>
                      <m:e>
                        <m:r>
                          <m:t>β</m:t>
                        </m:r>
                      </m:e>
                      <m:sub>
                        <m:r>
                          <m:t>2</m:t>
                        </m:r>
                      </m:sub>
                    </m:sSub>
                    <m:r>
                      <m:rPr>
                        <m:sty m:val="p"/>
                      </m:rPr>
                      <m:t>=</m:t>
                    </m:r>
                    <m:r>
                      <m:rPr>
                        <m:sty m:val="p"/>
                      </m:rPr>
                      <m:t>…</m:t>
                    </m:r>
                    <m:r>
                      <m:rPr>
                        <m:sty m:val="p"/>
                      </m:rPr>
                      <m:t>=</m:t>
                    </m:r>
                    <m:sSub>
                      <m:e>
                        <m:r>
                          <m:t>β</m:t>
                        </m:r>
                      </m:e>
                      <m:sub>
                        <m:r>
                          <m:t>6</m:t>
                        </m:r>
                      </m:sub>
                    </m:sSub>
                    <m:r>
                      <m:rPr>
                        <m:sty m:val="p"/>
                      </m:rPr>
                      <m:t>=</m:t>
                    </m:r>
                    <m:r>
                      <m:t>0</m:t>
                    </m:r>
                  </m:oMath>
                </a14:m>
              </a:p>
              <a:p>
                <a:pPr lvl="0" indent="0" marL="0">
                  <a:buNone/>
                </a:pPr>
                <a14:m>
                  <m:oMath xmlns:m="http://schemas.openxmlformats.org/officeDocument/2006/math">
                    <m:sSub>
                      <m:e>
                        <m:r>
                          <m:t>H</m:t>
                        </m:r>
                      </m:e>
                      <m:sub>
                        <m:r>
                          <m:t>1</m:t>
                        </m:r>
                      </m:sub>
                    </m:sSub>
                    <m:r>
                      <m:rPr>
                        <m:sty m:val="p"/>
                      </m:rPr>
                      <m:t>:</m:t>
                    </m:r>
                  </m:oMath>
                </a14:m>
                <a:r>
                  <a:rPr/>
                  <a:t> At least one </a:t>
                </a:r>
                <a14:m>
                  <m:oMath xmlns:m="http://schemas.openxmlformats.org/officeDocument/2006/math">
                    <m:sSub>
                      <m:e>
                        <m:r>
                          <m:t>β</m:t>
                        </m:r>
                      </m:e>
                      <m:sub>
                        <m:r>
                          <m:t>i</m:t>
                        </m:r>
                      </m:sub>
                    </m:sSub>
                    <m:r>
                      <m:rPr>
                        <m:sty m:val="p"/>
                      </m:rPr>
                      <m:t>≠</m:t>
                    </m:r>
                    <m:r>
                      <m:t>0</m:t>
                    </m:r>
                  </m:oMath>
                </a14:m>
              </a:p>
              <a:p>
                <a:pPr lvl="0" indent="0" marL="0">
                  <a:buNone/>
                </a:pPr>
                <a14:m>
                  <m:oMath xmlns:m="http://schemas.openxmlformats.org/officeDocument/2006/math">
                    <m:r>
                      <m:t>F</m:t>
                    </m:r>
                    <m:r>
                      <m:rPr>
                        <m:sty m:val="p"/>
                      </m:rPr>
                      <m:t>=</m:t>
                    </m:r>
                    <m:r>
                      <m:t>39.74</m:t>
                    </m:r>
                  </m:oMath>
                </a14:m>
              </a:p>
              <a:p>
                <a:pPr lvl="0" indent="0" marL="0">
                  <a:buNone/>
                </a:pPr>
                <a:r>
                  <a:rPr/>
                  <a:t>$p &lt; 0.05 $</a:t>
                </a:r>
              </a:p>
              <a:p>
                <a:pPr lvl="0" indent="0" marL="0">
                  <a:buNone/>
                </a:pPr>
                <a:r>
                  <a:rPr/>
                  <a:t>Reject </a:t>
                </a:r>
                <a14:m>
                  <m:oMath xmlns:m="http://schemas.openxmlformats.org/officeDocument/2006/math">
                    <m:sSub>
                      <m:e>
                        <m:r>
                          <m:t>H</m:t>
                        </m:r>
                      </m:e>
                      <m:sub>
                        <m:r>
                          <m:t>0</m:t>
                        </m:r>
                      </m:sub>
                    </m:sSub>
                  </m:oMath>
                </a14:m>
                <a:r>
                  <a:rPr/>
                  <a:t>, sufficient evidence to conclude the model is useful</a:t>
                </a:r>
              </a:p>
            </p:txBody>
          </p:sp>
        </mc:Choice>
      </mc:AlternateContent>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Regression Equation</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Based on the final model, the regression equation can be written as:</a:t>
                </a:r>
              </a:p>
              <a:p>
                <a:pPr lvl="0" indent="0" marL="0">
                  <a:buNone/>
                </a:pPr>
                <a:r>
                  <a:rPr b="1"/>
                  <a:t>1/medianlysis = 3.48761 + 0.34842 * (kdeg_kncat_log) + 0.11895 * (kplioff_log) - 2.47596 (Snap.Proportion) + 0.34749 * (ktPAon_log) + 0.41269 * (KdtPAnoplg_log) - 0.06423 * (kplgon_log)</a:t>
                </a:r>
              </a:p>
              <a:p>
                <a:pPr lvl="0" indent="0" marL="0">
                  <a:buNone/>
                </a:pPr>
                <a:r>
                  <a:rPr/>
                  <a:t>Each coefficient (</a:t>
                </a:r>
                <a14:m>
                  <m:oMath xmlns:m="http://schemas.openxmlformats.org/officeDocument/2006/math">
                    <m:sSub>
                      <m:e>
                        <m:r>
                          <m:t>β</m:t>
                        </m:r>
                      </m:e>
                      <m:sub>
                        <m:r>
                          <m:t>i</m:t>
                        </m:r>
                      </m:sub>
                    </m:sSub>
                  </m:oMath>
                </a14:m>
                <a:r>
                  <a:rPr/>
                  <a:t>) represents the expected change in the reciprocal of median lysis time for a one-unit increase in the corresponding predictor, holding all other predictors constant. Since we’re working with log-transformed predictors, the interpretation involves percentage changes rather than absolute changes, which is more appropriate for rate constants and binding affinities.</a:t>
                </a:r>
              </a:p>
            </p:txBody>
          </p:sp>
        </mc:Choice>
      </mc:AlternateContent>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Interpretation of Individual Coefficients</a:t>
            </a:r>
          </a:p>
        </p:txBody>
      </p:sp>
      <p:sp>
        <p:nvSpPr>
          <p:cNvPr id="4" name="Text Placeholder 3"/>
          <p:cNvSpPr>
            <a:spLocks noGrp="1"/>
          </p:cNvSpPr>
          <p:nvPr>
            <p:ph idx="2" sz="half" type="body"/>
          </p:nvPr>
        </p:nvSpPr>
        <p:spPr/>
        <p:txBody>
          <a:bodyPr/>
          <a:lstStyle/>
          <a:p>
            <a:pPr lvl="0" indent="0" marL="0">
              <a:buNone/>
            </a:pPr>
            <a:r>
              <a:rPr/>
              <a:t>The individual coefficient estimates and their significance tests tell us which predictors have statistically significant relationships with the response variable. A significant coefficient (typically p &lt; 0.05) suggests that the corresponding variable has a meaningful association with median lysis time after accounting for all other variables in the model. The sign of the coefficient indicates the direction of the relationship - positive coefficients suggest that increases in the predictor are associated with increases in the response (or decreases in median lysis time, since we’re modeling the reciprocal), while negative coefficients suggest the opposite relationship.</a:t>
            </a:r>
          </a:p>
          <a:p>
            <a:pPr lvl="0" indent="0" marL="0">
              <a:buNone/>
            </a:pPr>
            <a:r>
              <a:rPr/>
              <a:t>The Best Adjusted R Squared that I can get is from a 6 predictors model</a:t>
            </a:r>
          </a:p>
          <a:p>
            <a:pPr lvl="0" indent="0" marL="0">
              <a:buNone/>
            </a:pPr>
            <a:r>
              <a:rPr/>
              <a:t>##Residual Analysis</a:t>
            </a:r>
          </a:p>
          <a:p>
            <a:pPr lvl="0" indent="0">
              <a:buNone/>
            </a:pPr>
            <a:r>
              <a:rPr i="1">
                <a:solidFill>
                  <a:srgbClr val="60A0B0"/>
                </a:solidFill>
                <a:latin typeface="Courier"/>
              </a:rPr>
              <a:t># Constant variance check</a:t>
            </a:r>
            <a:br/>
            <a:r>
              <a:rPr>
                <a:solidFill>
                  <a:srgbClr val="06287E"/>
                </a:solidFill>
                <a:latin typeface="Courier"/>
              </a:rPr>
              <a:t>plot</a:t>
            </a:r>
            <a:r>
              <a:rPr>
                <a:latin typeface="Courier"/>
              </a:rPr>
              <a:t>(best_model, </a:t>
            </a:r>
            <a:r>
              <a:rPr>
                <a:solidFill>
                  <a:srgbClr val="40A070"/>
                </a:solidFill>
                <a:latin typeface="Courier"/>
              </a:rPr>
              <a:t>1</a:t>
            </a:r>
            <a:r>
              <a:rPr>
                <a:latin typeface="Courier"/>
              </a:rPr>
              <a:t>)</a:t>
            </a:r>
          </a:p>
        </p:txBody>
      </p:sp>
      <p:pic>
        <p:nvPicPr>
          <p:cNvPr descr="Fibrinolysis_Regression_files/figure-pptx/unnamed-chunk-15-1.png" id="0" name="Picture 1"/>
          <p:cNvPicPr>
            <a:picLocks noGrp="1" noChangeAspect="1"/>
          </p:cNvPicPr>
          <p:nvPr/>
        </p:nvPicPr>
        <p:blipFill>
          <a:blip r:embed="rId2"/>
          <a:stretch>
            <a:fillRect/>
          </a:stretch>
        </p:blipFill>
        <p:spPr bwMode="auto">
          <a:xfrm>
            <a:off x="3568700" y="355600"/>
            <a:ext cx="5105400" cy="4089400"/>
          </a:xfrm>
          <a:prstGeom prst="rect">
            <a:avLst/>
          </a:prstGeom>
          <a:noFill/>
          <a:ln w="9525">
            <a:noFill/>
            <a:headEnd/>
            <a:tailEnd/>
          </a:ln>
        </p:spPr>
      </p:pic>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p>
          <a:p>
            <a:pPr lvl="0" indent="0">
              <a:buNone/>
            </a:pPr>
            <a:r>
              <a:rPr i="1">
                <a:solidFill>
                  <a:srgbClr val="60A0B0"/>
                </a:solidFill>
                <a:latin typeface="Courier"/>
              </a:rPr>
              <a:t># Normality check</a:t>
            </a:r>
            <a:br/>
            <a:r>
              <a:rPr>
                <a:solidFill>
                  <a:srgbClr val="06287E"/>
                </a:solidFill>
                <a:latin typeface="Courier"/>
              </a:rPr>
              <a:t>plot</a:t>
            </a:r>
            <a:r>
              <a:rPr>
                <a:latin typeface="Courier"/>
              </a:rPr>
              <a:t>(best_model, </a:t>
            </a:r>
            <a:r>
              <a:rPr>
                <a:solidFill>
                  <a:srgbClr val="40A070"/>
                </a:solidFill>
                <a:latin typeface="Courier"/>
              </a:rPr>
              <a:t>2</a:t>
            </a:r>
            <a:r>
              <a:rPr>
                <a:latin typeface="Courier"/>
              </a:rPr>
              <a:t>)</a:t>
            </a:r>
          </a:p>
        </p:txBody>
      </p:sp>
      <p:pic>
        <p:nvPicPr>
          <p:cNvPr descr="Fibrinolysis_Regression_files/figure-pptx/unnamed-chunk-15-2.png" id="0" name="Picture 1"/>
          <p:cNvPicPr>
            <a:picLocks noGrp="1" noChangeAspect="1"/>
          </p:cNvPicPr>
          <p:nvPr/>
        </p:nvPicPr>
        <p:blipFill>
          <a:blip r:embed="rId2"/>
          <a:stretch>
            <a:fillRect/>
          </a:stretch>
        </p:blipFill>
        <p:spPr bwMode="auto">
          <a:xfrm>
            <a:off x="3568700" y="355600"/>
            <a:ext cx="5105400" cy="4089400"/>
          </a:xfrm>
          <a:prstGeom prst="rect">
            <a:avLst/>
          </a:prstGeom>
          <a:noFill/>
          <a:ln w="9525">
            <a:noFill/>
            <a:headEnd/>
            <a:tailEnd/>
          </a:ln>
        </p:spPr>
      </p:pic>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p>
          <a:p>
            <a:pPr lvl="0" indent="0">
              <a:buNone/>
            </a:pPr>
            <a:r>
              <a:rPr i="1">
                <a:solidFill>
                  <a:srgbClr val="60A0B0"/>
                </a:solidFill>
                <a:latin typeface="Courier"/>
              </a:rPr>
              <a:t>#Outlier check</a:t>
            </a:r>
            <a:br/>
            <a:r>
              <a:rPr>
                <a:latin typeface="Courier"/>
              </a:rPr>
              <a:t>rstd </a:t>
            </a:r>
            <a:r>
              <a:rPr>
                <a:solidFill>
                  <a:srgbClr val="007020"/>
                </a:solidFill>
                <a:latin typeface="Courier"/>
              </a:rPr>
              <a:t>&lt;-</a:t>
            </a:r>
            <a:r>
              <a:rPr>
                <a:latin typeface="Courier"/>
              </a:rPr>
              <a:t> </a:t>
            </a:r>
            <a:r>
              <a:rPr>
                <a:solidFill>
                  <a:srgbClr val="06287E"/>
                </a:solidFill>
                <a:latin typeface="Courier"/>
              </a:rPr>
              <a:t>rstandard</a:t>
            </a:r>
            <a:r>
              <a:rPr>
                <a:latin typeface="Courier"/>
              </a:rPr>
              <a:t>(best_model)</a:t>
            </a:r>
            <a:br/>
            <a:r>
              <a:rPr>
                <a:solidFill>
                  <a:srgbClr val="06287E"/>
                </a:solidFill>
                <a:latin typeface="Courier"/>
              </a:rPr>
              <a:t>which</a:t>
            </a:r>
            <a:r>
              <a:rPr>
                <a:latin typeface="Courier"/>
              </a:rPr>
              <a:t>(</a:t>
            </a:r>
            <a:r>
              <a:rPr>
                <a:solidFill>
                  <a:srgbClr val="06287E"/>
                </a:solidFill>
                <a:latin typeface="Courier"/>
              </a:rPr>
              <a:t>abs</a:t>
            </a:r>
            <a:r>
              <a:rPr>
                <a:latin typeface="Courier"/>
              </a:rPr>
              <a:t>(rstd)</a:t>
            </a:r>
            <a:r>
              <a:rPr>
                <a:solidFill>
                  <a:srgbClr val="4070A0"/>
                </a:solidFill>
                <a:latin typeface="Courier"/>
              </a:rPr>
              <a:t>&gt;</a:t>
            </a:r>
            <a:r>
              <a:rPr>
                <a:solidFill>
                  <a:srgbClr val="40A070"/>
                </a:solidFill>
                <a:latin typeface="Courier"/>
              </a:rPr>
              <a:t>3</a:t>
            </a:r>
            <a:r>
              <a:rPr>
                <a:latin typeface="Courier"/>
              </a:rPr>
              <a:t>)</a:t>
            </a:r>
          </a:p>
          <a:p>
            <a:pPr lvl="0" indent="0">
              <a:buNone/>
            </a:pPr>
            <a:r>
              <a:rPr>
                <a:latin typeface="Courier"/>
              </a:rPr>
              <a:t>## 13 
## 13</a:t>
            </a:r>
          </a:p>
          <a:p>
            <a:pPr lvl="0" indent="0">
              <a:buNone/>
            </a:pPr>
            <a:r>
              <a:rPr i="1">
                <a:solidFill>
                  <a:srgbClr val="60A0B0"/>
                </a:solidFill>
                <a:latin typeface="Courier"/>
              </a:rPr>
              <a:t># High Leverage</a:t>
            </a:r>
            <a:br/>
            <a:r>
              <a:rPr>
                <a:latin typeface="Courier"/>
              </a:rPr>
              <a:t>h </a:t>
            </a:r>
            <a:r>
              <a:rPr>
                <a:solidFill>
                  <a:srgbClr val="007020"/>
                </a:solidFill>
                <a:latin typeface="Courier"/>
              </a:rPr>
              <a:t>&lt;-</a:t>
            </a:r>
            <a:r>
              <a:rPr>
                <a:latin typeface="Courier"/>
              </a:rPr>
              <a:t> </a:t>
            </a:r>
            <a:r>
              <a:rPr>
                <a:solidFill>
                  <a:srgbClr val="06287E"/>
                </a:solidFill>
                <a:latin typeface="Courier"/>
              </a:rPr>
              <a:t>hatvalues</a:t>
            </a:r>
            <a:r>
              <a:rPr>
                <a:latin typeface="Courier"/>
              </a:rPr>
              <a:t>(best_model)</a:t>
            </a:r>
            <a:br/>
            <a:r>
              <a:rPr i="1">
                <a:solidFill>
                  <a:srgbClr val="60A0B0"/>
                </a:solidFill>
                <a:latin typeface="Courier"/>
              </a:rPr>
              <a:t># cut-off value would be: (2(k+1))/n = (2*(6+1))/42 = 14/42 = 0.3333</a:t>
            </a:r>
            <a:br/>
            <a:r>
              <a:rPr>
                <a:solidFill>
                  <a:srgbClr val="06287E"/>
                </a:solidFill>
                <a:latin typeface="Courier"/>
              </a:rPr>
              <a:t>which</a:t>
            </a:r>
            <a:r>
              <a:rPr>
                <a:latin typeface="Courier"/>
              </a:rPr>
              <a:t>(h </a:t>
            </a:r>
            <a:r>
              <a:rPr>
                <a:solidFill>
                  <a:srgbClr val="4070A0"/>
                </a:solidFill>
                <a:latin typeface="Courier"/>
              </a:rPr>
              <a:t>&gt;</a:t>
            </a:r>
            <a:r>
              <a:rPr>
                <a:latin typeface="Courier"/>
              </a:rPr>
              <a:t> </a:t>
            </a:r>
            <a:r>
              <a:rPr>
                <a:solidFill>
                  <a:srgbClr val="40A070"/>
                </a:solidFill>
                <a:latin typeface="Courier"/>
              </a:rPr>
              <a:t>0.3333</a:t>
            </a:r>
            <a:r>
              <a:rPr>
                <a:latin typeface="Courier"/>
              </a:rPr>
              <a:t>)</a:t>
            </a:r>
          </a:p>
          <a:p>
            <a:pPr lvl="0" indent="0">
              <a:buNone/>
            </a:pPr>
            <a:r>
              <a:rPr>
                <a:latin typeface="Courier"/>
              </a:rPr>
              <a:t>##  5 14 17 22 25 34 37 38 42 
##  5 14 17 22 25 34 37 38 42</a:t>
            </a:r>
          </a:p>
          <a:p>
            <a:pPr lvl="0" indent="0">
              <a:buNone/>
            </a:pPr>
            <a:r>
              <a:rPr i="1">
                <a:solidFill>
                  <a:srgbClr val="60A0B0"/>
                </a:solidFill>
                <a:latin typeface="Courier"/>
              </a:rPr>
              <a:t># influential Observations</a:t>
            </a:r>
            <a:br/>
            <a:r>
              <a:rPr>
                <a:latin typeface="Courier"/>
              </a:rPr>
              <a:t>ckd </a:t>
            </a:r>
            <a:r>
              <a:rPr>
                <a:solidFill>
                  <a:srgbClr val="007020"/>
                </a:solidFill>
                <a:latin typeface="Courier"/>
              </a:rPr>
              <a:t>&lt;-</a:t>
            </a:r>
            <a:r>
              <a:rPr>
                <a:latin typeface="Courier"/>
              </a:rPr>
              <a:t> </a:t>
            </a:r>
            <a:r>
              <a:rPr>
                <a:solidFill>
                  <a:srgbClr val="06287E"/>
                </a:solidFill>
                <a:latin typeface="Courier"/>
              </a:rPr>
              <a:t>cooks.distance</a:t>
            </a:r>
            <a:r>
              <a:rPr>
                <a:latin typeface="Courier"/>
              </a:rPr>
              <a:t>(best_model)</a:t>
            </a:r>
            <a:br/>
            <a:r>
              <a:rPr>
                <a:solidFill>
                  <a:srgbClr val="06287E"/>
                </a:solidFill>
                <a:latin typeface="Courier"/>
              </a:rPr>
              <a:t>which</a:t>
            </a:r>
            <a:r>
              <a:rPr>
                <a:latin typeface="Courier"/>
              </a:rPr>
              <a:t>(ckd </a:t>
            </a:r>
            <a:r>
              <a:rPr>
                <a:solidFill>
                  <a:srgbClr val="4070A0"/>
                </a:solidFill>
                <a:latin typeface="Courier"/>
              </a:rPr>
              <a:t>&gt;</a:t>
            </a:r>
            <a:r>
              <a:rPr>
                <a:latin typeface="Courier"/>
              </a:rPr>
              <a:t> </a:t>
            </a:r>
            <a:r>
              <a:rPr>
                <a:solidFill>
                  <a:srgbClr val="40A070"/>
                </a:solidFill>
                <a:latin typeface="Courier"/>
              </a:rPr>
              <a:t>0.5</a:t>
            </a:r>
            <a:r>
              <a:rPr>
                <a:latin typeface="Courier"/>
              </a:rPr>
              <a:t>)</a:t>
            </a:r>
          </a:p>
          <a:p>
            <a:pPr lvl="0" indent="0">
              <a:buNone/>
            </a:pPr>
            <a:r>
              <a:rPr>
                <a:latin typeface="Courier"/>
              </a:rPr>
              <a:t>## named integer(0)</a:t>
            </a:r>
          </a:p>
          <a:p>
            <a:pPr lvl="0" indent="0">
              <a:buNone/>
            </a:pPr>
            <a:r>
              <a:rPr>
                <a:solidFill>
                  <a:srgbClr val="06287E"/>
                </a:solidFill>
                <a:latin typeface="Courier"/>
              </a:rPr>
              <a:t>which</a:t>
            </a:r>
            <a:r>
              <a:rPr>
                <a:latin typeface="Courier"/>
              </a:rPr>
              <a:t>(ckd </a:t>
            </a:r>
            <a:r>
              <a:rPr>
                <a:solidFill>
                  <a:srgbClr val="4070A0"/>
                </a:solidFill>
                <a:latin typeface="Courier"/>
              </a:rPr>
              <a:t>&gt;</a:t>
            </a:r>
            <a:r>
              <a:rPr>
                <a:latin typeface="Courier"/>
              </a:rPr>
              <a:t> </a:t>
            </a:r>
            <a:r>
              <a:rPr>
                <a:solidFill>
                  <a:srgbClr val="40A070"/>
                </a:solidFill>
                <a:latin typeface="Courier"/>
              </a:rPr>
              <a:t>1</a:t>
            </a:r>
            <a:r>
              <a:rPr>
                <a:latin typeface="Courier"/>
              </a:rPr>
              <a:t>)</a:t>
            </a:r>
          </a:p>
          <a:p>
            <a:pPr lvl="0" indent="0">
              <a:buNone/>
            </a:pPr>
            <a:r>
              <a:rPr>
                <a:latin typeface="Courier"/>
              </a:rPr>
              <a:t>## named integer(0)</a:t>
            </a:r>
          </a:p>
          <a:p>
            <a:pPr lvl="0" indent="0">
              <a:buNone/>
            </a:pPr>
            <a:r>
              <a:rPr>
                <a:solidFill>
                  <a:srgbClr val="06287E"/>
                </a:solidFill>
                <a:latin typeface="Courier"/>
              </a:rPr>
              <a:t>plot</a:t>
            </a:r>
            <a:r>
              <a:rPr>
                <a:latin typeface="Courier"/>
              </a:rPr>
              <a:t>(best_model, </a:t>
            </a:r>
            <a:r>
              <a:rPr>
                <a:solidFill>
                  <a:srgbClr val="40A070"/>
                </a:solidFill>
                <a:latin typeface="Courier"/>
              </a:rPr>
              <a:t>5</a:t>
            </a:r>
            <a:r>
              <a:rPr>
                <a:latin typeface="Courier"/>
              </a:rPr>
              <a:t>)</a:t>
            </a:r>
          </a:p>
        </p:txBody>
      </p:sp>
      <p:pic>
        <p:nvPicPr>
          <p:cNvPr descr="Fibrinolysis_Regression_files/figure-pptx/unnamed-chunk-15-3.png" id="0" name="Picture 1"/>
          <p:cNvPicPr>
            <a:picLocks noGrp="1" noChangeAspect="1"/>
          </p:cNvPicPr>
          <p:nvPr/>
        </p:nvPicPr>
        <p:blipFill>
          <a:blip r:embed="rId2"/>
          <a:stretch>
            <a:fillRect/>
          </a:stretch>
        </p:blipFill>
        <p:spPr bwMode="auto">
          <a:xfrm>
            <a:off x="3568700" y="355600"/>
            <a:ext cx="5105400" cy="4089400"/>
          </a:xfrm>
          <a:prstGeom prst="rect">
            <a:avLst/>
          </a:prstGeom>
          <a:noFill/>
          <a:ln w="9525">
            <a:noFill/>
            <a:headEnd/>
            <a:tailEnd/>
          </a:ln>
        </p:spPr>
      </p:pic>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p>
          <a:p>
            <a:pPr lvl="0" indent="0" marL="0">
              <a:buNone/>
            </a:pPr>
            <a:r>
              <a:rPr b="1"/>
              <a:t>Figure 5: Residual diagnostic plots.</a:t>
            </a:r>
            <a:r>
              <a:rPr/>
              <a:t> These plots assess whether the model assumptions are met and identify potential problematic observations.</a:t>
            </a:r>
          </a:p>
        </p:txBody>
      </p:sp>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Residual Analysis Summary</a:t>
            </a:r>
          </a:p>
        </p:txBody>
      </p:sp>
      <p:sp>
        <p:nvSpPr>
          <p:cNvPr id="3" name="Content Placeholder 2"/>
          <p:cNvSpPr>
            <a:spLocks noGrp="1"/>
          </p:cNvSpPr>
          <p:nvPr>
            <p:ph idx="1"/>
          </p:nvPr>
        </p:nvSpPr>
        <p:spPr/>
        <p:txBody>
          <a:bodyPr/>
          <a:lstStyle/>
          <a:p>
            <a:pPr lvl="0" indent="0" marL="0">
              <a:buNone/>
            </a:pPr>
            <a:r>
              <a:rPr b="1"/>
              <a:t>Constant Variance:</a:t>
            </a:r>
            <a:r>
              <a:rPr/>
              <a:t> The residuals vs fitted plot shows a wavy pattern and non-constant spread (wider at extremes, narrower in the middle), indicating mild heteroscedasticity.</a:t>
            </a:r>
          </a:p>
          <a:p>
            <a:pPr lvl="0" indent="0" marL="0">
              <a:buNone/>
            </a:pPr>
            <a:r>
              <a:rPr b="1"/>
              <a:t>Normality:</a:t>
            </a:r>
            <a:r>
              <a:rPr/>
              <a:t> The Q-Q plot shows an S-shape with deviations in both tails (observations 13, 33 in lower tail; 7 in upper tail), suggesting heavier tails than normal.</a:t>
            </a:r>
          </a:p>
          <a:p>
            <a:pPr lvl="0" indent="0" marL="0">
              <a:buNone/>
            </a:pPr>
            <a:r>
              <a:rPr b="1"/>
              <a:t>Outliers:</a:t>
            </a:r>
            <a:r>
              <a:rPr/>
              <a:t> Observation 13 has a standardized residual &lt; -3.</a:t>
            </a:r>
          </a:p>
          <a:p>
            <a:pPr lvl="0" indent="0" marL="0">
              <a:buNone/>
            </a:pPr>
            <a:r>
              <a:rPr b="1"/>
              <a:t>High Leverage:</a:t>
            </a:r>
            <a:r>
              <a:rPr/>
              <a:t> Nine observations (5, 14, 17, 22, 25, 34, 37, 38, 42) have high leverage.</a:t>
            </a:r>
          </a:p>
          <a:p>
            <a:pPr lvl="0" indent="0" marL="0">
              <a:buNone/>
            </a:pPr>
            <a:r>
              <a:rPr b="1"/>
              <a:t>Influence:</a:t>
            </a:r>
            <a:r>
              <a:rPr/>
              <a:t> No observations exceed Cook’s distance thresholds of 0.5 or 1.0, though observations 34 and 25 are near the 0.5 contour and may have some influence.</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Discussion</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Main Findings and Concluding Remarks</a:t>
            </a:r>
          </a:p>
        </p:txBody>
      </p:sp>
      <p:sp>
        <p:nvSpPr>
          <p:cNvPr id="3" name="Content Placeholder 2"/>
          <p:cNvSpPr>
            <a:spLocks noGrp="1"/>
          </p:cNvSpPr>
          <p:nvPr>
            <p:ph idx="1"/>
          </p:nvPr>
        </p:nvSpPr>
        <p:spPr/>
        <p:txBody>
          <a:bodyPr/>
          <a:lstStyle/>
          <a:p>
            <a:pPr lvl="0" indent="0" marL="0">
              <a:buNone/>
            </a:pPr>
            <a:r>
              <a:rPr/>
              <a:t>This analysis successfully developed a predictive model for fibrinolysis rates, achieving an adjusted R-squared of 0.8501 (85.01%) with six predictors. This represents a dramatic improvement from the original model, which had a negative adjusted R-squared (-0.2059) and was statistically insignificant (p = 0.989). The transformation approach proved essential: log transformations of the kinetic parameters addressed extreme right skewness, while the reciprocal transformation of the response variable (suggested by Box-Cox analysis) was crucial for achieving both statistical significance and high explanatory power.</a:t>
            </a:r>
          </a:p>
          <a:p>
            <a:pPr lvl="0" indent="0" marL="0">
              <a:buNone/>
            </a:pPr>
            <a:r>
              <a:rPr/>
              <a:t>The final model identifies six predictors: five highly significant ones—the degradation and catalytic rate constant (kdeg_kncat_log), plasminogen dissociation rate (kplioff_log), snap proportion (negative relationship), tPA binding rate (ktPAon_log), and dissociation constant for tPA without plasminogen (KdtPAnoplg_log)—and one that is not statistically significant (kplgon_log, p = 0.259). Interestingly, removing three variables from the full model (KdtPAyesplg_log, KdPLGnicked_log, KdPLGintact_log) actually improved the adjusted R-squared from 0.8375 to 0.8501, indicating these variables added noise rather than meaningful information.</a:t>
            </a:r>
          </a:p>
          <a:p>
            <a:pPr lvl="0" indent="0" marL="0">
              <a:buNone/>
            </a:pPr>
            <a:r>
              <a:rPr/>
              <a:t>The most important finding is that fibrinolysis rates depend on multiple kinetic constants and binding affinities working together, rather than any single parameter. These variables represent different aspects of the complex biochemical network involved in clot dissolution. From a practical standpoint, this model could be useful for predicting fibrinolysis outcomes in experimental settings, with the 85% variance explained providing strong predictive capability.</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Limitations of the Analysis</a:t>
            </a:r>
          </a:p>
        </p:txBody>
      </p:sp>
      <p:sp>
        <p:nvSpPr>
          <p:cNvPr id="3" name="Content Placeholder 2"/>
          <p:cNvSpPr>
            <a:spLocks noGrp="1"/>
          </p:cNvSpPr>
          <p:nvPr>
            <p:ph idx="1"/>
          </p:nvPr>
        </p:nvSpPr>
        <p:spPr/>
        <p:txBody>
          <a:bodyPr/>
          <a:lstStyle/>
          <a:p>
            <a:pPr lvl="0" indent="0" marL="0">
              <a:buNone/>
            </a:pPr>
            <a:r>
              <a:rPr/>
              <a:t>I should acknowledge several limitations.</a:t>
            </a:r>
          </a:p>
          <a:p>
            <a:pPr lvl="0" indent="0" marL="0">
              <a:buNone/>
            </a:pPr>
            <a:r>
              <a:rPr/>
              <a:t>First, the sample size of 42 observations is relatively small for a model with 6 predictors. While sufficient for this analysis, a larger sample would provide more stable coefficient estimates and greater statistical significance.</a:t>
            </a:r>
          </a:p>
          <a:p>
            <a:pPr lvl="0" indent="0" marL="0">
              <a:buNone/>
            </a:pPr>
            <a:r>
              <a:rPr/>
              <a:t>Second, despite explaining 85% of the variance, 15% remains unexplained. I am actually satisfied with the 85% of variance being explained, especially for complex biological data like this. However, the remaining 15% might be explained by adding more observations to the data set.</a:t>
            </a:r>
          </a:p>
          <a:p>
            <a:pPr lvl="0" indent="0" marL="0">
              <a:buNone/>
            </a:pPr>
            <a:r>
              <a:rPr/>
              <a:t>Third, residual analysis revealed violations of some regression assumptions. The residuals vs fitted plot shows mild heteroscedasticity (non-constant variance), and the Q-Q plot shows an S-shape with heavier tails than normal. While these violations don’t necessarily invalidate the model, they suggest that standard errors and p-values should be interpreted with some caution. The presence of one outlier (observation 13) and nine high leverage points also suggests some unusual cases in the data, though no observations exceed Cook’s distance thresholds, indicating no highly influential points.</a:t>
            </a:r>
          </a:p>
          <a:p>
            <a:pPr lvl="0" indent="0" marL="0">
              <a:buNone/>
            </a:pPr>
            <a:r>
              <a:rPr/>
              <a:t>Fourth, model selection involved multiple steps (forward selection, all-possible regressions), and different criteria suggested different optimal models. BIC favored a 5-variable model, while adjusted R-squared favored a 6-variable model. The choice to prioritize adjusted R-squared for prediction purposes highlights the subjective nature of model selection.</a:t>
            </a:r>
          </a:p>
          <a:p>
            <a:pPr lvl="0" indent="0" marL="0">
              <a:buNone/>
            </a:pPr>
            <a:r>
              <a:rPr/>
              <a:t>Finally, this analysis is correlational and observational. We cannot establish causal relationships, and the associations could be confounded by unmeasured variables or reflect correlations rather than direct causal effects.</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Would Be Done Differently</a:t>
            </a:r>
          </a:p>
        </p:txBody>
      </p:sp>
      <p:sp>
        <p:nvSpPr>
          <p:cNvPr id="3" name="Content Placeholder 2"/>
          <p:cNvSpPr>
            <a:spLocks noGrp="1"/>
          </p:cNvSpPr>
          <p:nvPr>
            <p:ph idx="1"/>
          </p:nvPr>
        </p:nvSpPr>
        <p:spPr/>
        <p:txBody>
          <a:bodyPr/>
          <a:lstStyle/>
          <a:p>
            <a:pPr lvl="0" indent="0" marL="0">
              <a:buNone/>
            </a:pPr>
            <a:r>
              <a:rPr/>
              <a:t>If redoing this project, several improvements could be made:</a:t>
            </a:r>
          </a:p>
          <a:p>
            <a:pPr lvl="0" indent="0" marL="0">
              <a:buNone/>
            </a:pPr>
            <a:r>
              <a:rPr/>
              <a:t>First, I would collect a larger sample size (ideally 100-150 observations) to provide more statistical power and allow for proper train-test validation (Cross Validation), which would give a more realistic assessment of predictive performance on unseen data.</a:t>
            </a:r>
          </a:p>
          <a:p>
            <a:pPr lvl="0" indent="0" marL="0">
              <a:buNone/>
            </a:pPr>
            <a:r>
              <a:rPr/>
              <a:t>Second, I might also explore robust regression methods that are less sensitive to outliers.</a:t>
            </a:r>
          </a:p>
          <a:p>
            <a:pPr lvl="0" indent="0" marL="0">
              <a:buNone/>
            </a:pPr>
            <a:r>
              <a:rPr/>
              <a:t>Third, I would consider alternative modeling approaches. Given the mild heteroscedasticity, weighted least squares regression might be appropriate. If nonlinear relationships are suspected, polynomial terms or interaction effects could be explored. Machine learning approaches like random forests could provide complementary insights, though with reduced interpretability.</a:t>
            </a:r>
          </a:p>
          <a:p>
            <a:pPr lvl="0" indent="0" marL="0">
              <a:buNone/>
            </a:pPr>
            <a:r>
              <a:rPr/>
              <a:t>Fourth, I would explore collecting additional variables that might be relevant to fibrinolysis but weren’t included in the original dataset.</a:t>
            </a:r>
          </a:p>
          <a:p>
            <a:pPr lvl="0" indent="0" marL="0">
              <a:buNone/>
            </a:pPr>
            <a:r>
              <a:rPr/>
              <a:t>Finally, I would conduct a more thorough sensitivity analysis to understand how robust the conclusions are to different modeling choices, transformations, and handling of outliers.</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Future Research Directions</a:t>
            </a:r>
          </a:p>
        </p:txBody>
      </p:sp>
      <p:sp>
        <p:nvSpPr>
          <p:cNvPr id="3" name="Content Placeholder 2"/>
          <p:cNvSpPr>
            <a:spLocks noGrp="1"/>
          </p:cNvSpPr>
          <p:nvPr>
            <p:ph idx="1"/>
          </p:nvPr>
        </p:nvSpPr>
        <p:spPr/>
        <p:txBody>
          <a:bodyPr/>
          <a:lstStyle/>
          <a:p>
            <a:pPr lvl="0" indent="0" marL="0">
              <a:buNone/>
            </a:pPr>
            <a:r>
              <a:rPr/>
              <a:t>Several research directions emerged from this analysis. First, expanding the dataset to include more observations and potentially more variables would allow for more sophisticated modeling and more reliable conclusions. This could include additional kinetic parameters, environmental factors (like temperature, pH, or ion concentrations), or characteristics of the clot itself.</a:t>
            </a:r>
          </a:p>
          <a:p>
            <a:pPr lvl="0" indent="0" marL="0">
              <a:buNone/>
            </a:pPr>
            <a:r>
              <a:rPr/>
              <a:t>Second, investigating nonlinear relationships and potential interactions between variables could reveal more complex patterns. For instance, the effect of one kinetic constant might depend on the value of another, suggesting that interaction terms could improve the model. Polynomial terms or spline functions could capture curvilinear relationships that the linear model misses.</a:t>
            </a:r>
          </a:p>
          <a:p>
            <a:pPr lvl="0" indent="0" marL="0">
              <a:buNone/>
            </a:pPr>
            <a:r>
              <a:rPr/>
              <a:t>Third, exploring the biological mechanisms underlying the statistical associations could provide deeper insights. Understanding why certain parameters are predictive could lead to testable hypotheses about the fibrinolysis process and potentially identify new therapeutic targets.</a:t>
            </a:r>
          </a:p>
          <a:p>
            <a:pPr lvl="0" indent="0" marL="0">
              <a:buNone/>
            </a:pPr>
            <a:r>
              <a:rPr/>
              <a:t>Fourth, developing more sophisticated models that account for the heteroscedasticity and other assumption violations could improve both prediction accuracy and the reliability of statistical inferences. This might involve generalized least squares, robust regression methods, or Bayesian approaches.</a:t>
            </a:r>
          </a:p>
          <a:p>
            <a:pPr lvl="0" indent="0" marL="0">
              <a:buNone/>
            </a:pPr>
            <a:r>
              <a:rPr/>
              <a:t>Finally, translating these statistical findings into practical applications could involve developing predictive tools for clinical or pharmaceutical research. If the model can reliably predict fibrinolysis rates, it could be used to screen potential therapeutic compounds or optimize experimental conditions without requiring extensive laboratory work.</a:t>
            </a:r>
          </a:p>
          <a:p>
            <a:pPr lvl="0" indent="0" marL="0">
              <a:buNone/>
            </a:pPr>
            <a:r>
              <a:rPr/>
              <a:t>In conclusion, while this analysis has limitations, it provides a solid foundation for understanding the relationships between biochemical parameters and fibrinolysis rates. The transformation approach and model selection process successfully improved the model from statistically insignificant to explaining 85% of the variance. The identified predictors represent a starting point for further investigation, and the methodological approaches developed here could be refined and extended in future work.</a:t>
            </a:r>
          </a:p>
          <a:p>
            <a:pPr lvl="0" indent="0">
              <a:buNone/>
            </a:pPr>
            <a:r>
              <a:rPr i="1">
                <a:solidFill>
                  <a:srgbClr val="60A0B0"/>
                </a:solidFill>
                <a:latin typeface="Courier"/>
              </a:rPr>
              <a:t># A Good Prediction that fills hope</a:t>
            </a:r>
            <a:br/>
            <a:br/>
            <a:br/>
            <a:r>
              <a:rPr i="1">
                <a:solidFill>
                  <a:srgbClr val="60A0B0"/>
                </a:solidFill>
                <a:latin typeface="Courier"/>
              </a:rPr>
              <a:t># Observation 20 values from the CSV:</a:t>
            </a:r>
            <a:br/>
            <a:r>
              <a:rPr i="1">
                <a:solidFill>
                  <a:srgbClr val="60A0B0"/>
                </a:solidFill>
                <a:latin typeface="Courier"/>
              </a:rPr>
              <a:t># Snap.Proportion: 0.6667</a:t>
            </a:r>
            <a:br/>
            <a:r>
              <a:rPr i="1">
                <a:solidFill>
                  <a:srgbClr val="60A0B0"/>
                </a:solidFill>
                <a:latin typeface="Courier"/>
              </a:rPr>
              <a:t># ktPAon: 0.1</a:t>
            </a:r>
            <a:br/>
            <a:r>
              <a:rPr i="1">
                <a:solidFill>
                  <a:srgbClr val="60A0B0"/>
                </a:solidFill>
                <a:latin typeface="Courier"/>
              </a:rPr>
              <a:t># kplioff: 57.6</a:t>
            </a:r>
            <a:br/>
            <a:r>
              <a:rPr i="1">
                <a:solidFill>
                  <a:srgbClr val="60A0B0"/>
                </a:solidFill>
                <a:latin typeface="Courier"/>
              </a:rPr>
              <a:t># kplgon: 0.1</a:t>
            </a:r>
            <a:br/>
            <a:r>
              <a:rPr i="1">
                <a:solidFill>
                  <a:srgbClr val="60A0B0"/>
                </a:solidFill>
                <a:latin typeface="Courier"/>
              </a:rPr>
              <a:t># KdtPAnoplg: 0.36</a:t>
            </a:r>
            <a:br/>
            <a:r>
              <a:rPr i="1">
                <a:solidFill>
                  <a:srgbClr val="60A0B0"/>
                </a:solidFill>
                <a:latin typeface="Courier"/>
              </a:rPr>
              <a:t># kdeg.and.kncat: 5</a:t>
            </a:r>
            <a:br/>
            <a:r>
              <a:rPr i="1">
                <a:solidFill>
                  <a:srgbClr val="60A0B0"/>
                </a:solidFill>
                <a:latin typeface="Courier"/>
              </a:rPr>
              <a:t># Actual medianlysis: 0.5276</a:t>
            </a:r>
            <a:br/>
            <a:br/>
            <a:br/>
            <a:r>
              <a:rPr>
                <a:latin typeface="Courier"/>
              </a:rPr>
              <a:t>new_data </a:t>
            </a:r>
            <a:r>
              <a:rPr>
                <a:solidFill>
                  <a:srgbClr val="007020"/>
                </a:solidFill>
                <a:latin typeface="Courier"/>
              </a:rPr>
              <a:t>&lt;-</a:t>
            </a:r>
            <a:r>
              <a:rPr>
                <a:latin typeface="Courier"/>
              </a:rPr>
              <a:t> </a:t>
            </a:r>
            <a:r>
              <a:rPr>
                <a:solidFill>
                  <a:srgbClr val="06287E"/>
                </a:solidFill>
                <a:latin typeface="Courier"/>
              </a:rPr>
              <a:t>data.frame</a:t>
            </a:r>
            <a:r>
              <a:rPr>
                <a:latin typeface="Courier"/>
              </a:rPr>
              <a:t>(</a:t>
            </a:r>
            <a:br/>
            <a:r>
              <a:rPr>
                <a:solidFill>
                  <a:srgbClr val="7D9029"/>
                </a:solidFill>
                <a:latin typeface="Courier"/>
              </a:rPr>
              <a:t>kdeg_kncat_log =</a:t>
            </a:r>
            <a:r>
              <a:rPr>
                <a:latin typeface="Courier"/>
              </a:rPr>
              <a:t> </a:t>
            </a:r>
            <a:r>
              <a:rPr>
                <a:solidFill>
                  <a:srgbClr val="06287E"/>
                </a:solidFill>
                <a:latin typeface="Courier"/>
              </a:rPr>
              <a:t>log</a:t>
            </a:r>
            <a:r>
              <a:rPr>
                <a:latin typeface="Courier"/>
              </a:rPr>
              <a:t>(</a:t>
            </a:r>
            <a:r>
              <a:rPr>
                <a:solidFill>
                  <a:srgbClr val="40A070"/>
                </a:solidFill>
                <a:latin typeface="Courier"/>
              </a:rPr>
              <a:t>5</a:t>
            </a:r>
            <a:r>
              <a:rPr>
                <a:latin typeface="Courier"/>
              </a:rPr>
              <a:t>),</a:t>
            </a:r>
            <a:br/>
            <a:r>
              <a:rPr>
                <a:solidFill>
                  <a:srgbClr val="7D9029"/>
                </a:solidFill>
                <a:latin typeface="Courier"/>
              </a:rPr>
              <a:t>kplioff_log =</a:t>
            </a:r>
            <a:r>
              <a:rPr>
                <a:latin typeface="Courier"/>
              </a:rPr>
              <a:t> </a:t>
            </a:r>
            <a:r>
              <a:rPr>
                <a:solidFill>
                  <a:srgbClr val="06287E"/>
                </a:solidFill>
                <a:latin typeface="Courier"/>
              </a:rPr>
              <a:t>log</a:t>
            </a:r>
            <a:r>
              <a:rPr>
                <a:latin typeface="Courier"/>
              </a:rPr>
              <a:t>(</a:t>
            </a:r>
            <a:r>
              <a:rPr>
                <a:solidFill>
                  <a:srgbClr val="40A070"/>
                </a:solidFill>
                <a:latin typeface="Courier"/>
              </a:rPr>
              <a:t>57.6</a:t>
            </a:r>
            <a:r>
              <a:rPr>
                <a:latin typeface="Courier"/>
              </a:rPr>
              <a:t>),</a:t>
            </a:r>
            <a:br/>
            <a:r>
              <a:rPr>
                <a:solidFill>
                  <a:srgbClr val="7D9029"/>
                </a:solidFill>
                <a:latin typeface="Courier"/>
              </a:rPr>
              <a:t>Snap.Proportion =</a:t>
            </a:r>
            <a:r>
              <a:rPr>
                <a:latin typeface="Courier"/>
              </a:rPr>
              <a:t> </a:t>
            </a:r>
            <a:r>
              <a:rPr>
                <a:solidFill>
                  <a:srgbClr val="40A070"/>
                </a:solidFill>
                <a:latin typeface="Courier"/>
              </a:rPr>
              <a:t>0.6667</a:t>
            </a:r>
            <a:r>
              <a:rPr>
                <a:latin typeface="Courier"/>
              </a:rPr>
              <a:t>,</a:t>
            </a:r>
            <a:br/>
            <a:r>
              <a:rPr>
                <a:solidFill>
                  <a:srgbClr val="7D9029"/>
                </a:solidFill>
                <a:latin typeface="Courier"/>
              </a:rPr>
              <a:t>ktPAon_log =</a:t>
            </a:r>
            <a:r>
              <a:rPr>
                <a:latin typeface="Courier"/>
              </a:rPr>
              <a:t> </a:t>
            </a:r>
            <a:r>
              <a:rPr>
                <a:solidFill>
                  <a:srgbClr val="06287E"/>
                </a:solidFill>
                <a:latin typeface="Courier"/>
              </a:rPr>
              <a:t>log</a:t>
            </a:r>
            <a:r>
              <a:rPr>
                <a:latin typeface="Courier"/>
              </a:rPr>
              <a:t>(</a:t>
            </a:r>
            <a:r>
              <a:rPr>
                <a:solidFill>
                  <a:srgbClr val="40A070"/>
                </a:solidFill>
                <a:latin typeface="Courier"/>
              </a:rPr>
              <a:t>0.1</a:t>
            </a:r>
            <a:r>
              <a:rPr>
                <a:latin typeface="Courier"/>
              </a:rPr>
              <a:t>),</a:t>
            </a:r>
            <a:br/>
            <a:r>
              <a:rPr>
                <a:solidFill>
                  <a:srgbClr val="7D9029"/>
                </a:solidFill>
                <a:latin typeface="Courier"/>
              </a:rPr>
              <a:t>KdtPAnoplg_log =</a:t>
            </a:r>
            <a:r>
              <a:rPr>
                <a:latin typeface="Courier"/>
              </a:rPr>
              <a:t> </a:t>
            </a:r>
            <a:r>
              <a:rPr>
                <a:solidFill>
                  <a:srgbClr val="06287E"/>
                </a:solidFill>
                <a:latin typeface="Courier"/>
              </a:rPr>
              <a:t>log</a:t>
            </a:r>
            <a:r>
              <a:rPr>
                <a:latin typeface="Courier"/>
              </a:rPr>
              <a:t>(</a:t>
            </a:r>
            <a:r>
              <a:rPr>
                <a:solidFill>
                  <a:srgbClr val="40A070"/>
                </a:solidFill>
                <a:latin typeface="Courier"/>
              </a:rPr>
              <a:t>0.36</a:t>
            </a:r>
            <a:r>
              <a:rPr>
                <a:latin typeface="Courier"/>
              </a:rPr>
              <a:t>),</a:t>
            </a:r>
            <a:br/>
            <a:r>
              <a:rPr>
                <a:solidFill>
                  <a:srgbClr val="7D9029"/>
                </a:solidFill>
                <a:latin typeface="Courier"/>
              </a:rPr>
              <a:t>kplgon_log =</a:t>
            </a:r>
            <a:r>
              <a:rPr>
                <a:latin typeface="Courier"/>
              </a:rPr>
              <a:t> </a:t>
            </a:r>
            <a:r>
              <a:rPr>
                <a:solidFill>
                  <a:srgbClr val="06287E"/>
                </a:solidFill>
                <a:latin typeface="Courier"/>
              </a:rPr>
              <a:t>log</a:t>
            </a:r>
            <a:r>
              <a:rPr>
                <a:latin typeface="Courier"/>
              </a:rPr>
              <a:t>(</a:t>
            </a:r>
            <a:r>
              <a:rPr>
                <a:solidFill>
                  <a:srgbClr val="40A070"/>
                </a:solidFill>
                <a:latin typeface="Courier"/>
              </a:rPr>
              <a:t>0.1</a:t>
            </a:r>
            <a:r>
              <a:rPr>
                <a:latin typeface="Courier"/>
              </a:rPr>
              <a:t>)</a:t>
            </a:r>
            <a:br/>
            <a:r>
              <a:rPr>
                <a:latin typeface="Courier"/>
              </a:rPr>
              <a:t>)</a:t>
            </a:r>
            <a:br/>
            <a:br/>
            <a:br/>
            <a:r>
              <a:rPr>
                <a:latin typeface="Courier"/>
              </a:rPr>
              <a:t>predicted_reciprocal</a:t>
            </a:r>
            <a:r>
              <a:rPr>
                <a:solidFill>
                  <a:srgbClr val="007020"/>
                </a:solidFill>
                <a:latin typeface="Courier"/>
              </a:rPr>
              <a:t>&lt;-</a:t>
            </a:r>
            <a:r>
              <a:rPr>
                <a:latin typeface="Courier"/>
              </a:rPr>
              <a:t> </a:t>
            </a:r>
            <a:r>
              <a:rPr>
                <a:solidFill>
                  <a:srgbClr val="06287E"/>
                </a:solidFill>
                <a:latin typeface="Courier"/>
              </a:rPr>
              <a:t>predict</a:t>
            </a:r>
            <a:r>
              <a:rPr>
                <a:latin typeface="Courier"/>
              </a:rPr>
              <a:t>(best_model, </a:t>
            </a:r>
            <a:r>
              <a:rPr>
                <a:solidFill>
                  <a:srgbClr val="7D9029"/>
                </a:solidFill>
                <a:latin typeface="Courier"/>
              </a:rPr>
              <a:t>newdata =</a:t>
            </a:r>
            <a:r>
              <a:rPr>
                <a:latin typeface="Courier"/>
              </a:rPr>
              <a:t> new_data)</a:t>
            </a:r>
            <a:br/>
            <a:br/>
            <a:br/>
            <a:r>
              <a:rPr>
                <a:latin typeface="Courier"/>
              </a:rPr>
              <a:t>predicted_medianlysis</a:t>
            </a:r>
            <a:r>
              <a:rPr>
                <a:solidFill>
                  <a:srgbClr val="007020"/>
                </a:solidFill>
                <a:latin typeface="Courier"/>
              </a:rPr>
              <a:t>&lt;-</a:t>
            </a:r>
            <a:r>
              <a:rPr>
                <a:latin typeface="Courier"/>
              </a:rPr>
              <a:t> </a:t>
            </a:r>
            <a:r>
              <a:rPr>
                <a:solidFill>
                  <a:srgbClr val="40A070"/>
                </a:solidFill>
                <a:latin typeface="Courier"/>
              </a:rPr>
              <a:t>1</a:t>
            </a:r>
            <a:r>
              <a:rPr>
                <a:latin typeface="Courier"/>
              </a:rPr>
              <a:t> </a:t>
            </a:r>
            <a:r>
              <a:rPr>
                <a:solidFill>
                  <a:srgbClr val="4070A0"/>
                </a:solidFill>
                <a:latin typeface="Courier"/>
              </a:rPr>
              <a:t>/</a:t>
            </a:r>
            <a:r>
              <a:rPr>
                <a:latin typeface="Courier"/>
              </a:rPr>
              <a:t> predicted_reciprocal</a:t>
            </a:r>
            <a:br/>
            <a:br/>
            <a:br/>
            <a:r>
              <a:rPr>
                <a:solidFill>
                  <a:srgbClr val="06287E"/>
                </a:solidFill>
                <a:latin typeface="Courier"/>
              </a:rPr>
              <a:t>cat</a:t>
            </a:r>
            <a:r>
              <a:rPr>
                <a:latin typeface="Courier"/>
              </a:rPr>
              <a:t>(</a:t>
            </a:r>
            <a:r>
              <a:rPr>
                <a:solidFill>
                  <a:srgbClr val="4070A0"/>
                </a:solidFill>
                <a:latin typeface="Courier"/>
              </a:rPr>
              <a:t>"Predicted medianlysis:"</a:t>
            </a:r>
            <a:r>
              <a:rPr>
                <a:latin typeface="Courier"/>
              </a:rPr>
              <a:t>, predicted_medianlysis, </a:t>
            </a:r>
            <a:r>
              <a:rPr>
                <a:solidFill>
                  <a:srgbClr val="4070A0"/>
                </a:solidFill>
                <a:latin typeface="Courier"/>
              </a:rPr>
              <a:t>"\n"</a:t>
            </a:r>
            <a:r>
              <a:rPr>
                <a:latin typeface="Courier"/>
              </a:rPr>
              <a:t>)</a:t>
            </a:r>
          </a:p>
          <a:p>
            <a:pPr lvl="0" indent="0">
              <a:buNone/>
            </a:pPr>
            <a:r>
              <a:rPr>
                <a:latin typeface="Courier"/>
              </a:rPr>
              <a:t>## Predicted medianlysis: 0.5537213</a:t>
            </a:r>
          </a:p>
          <a:p>
            <a:pPr lvl="0" indent="0">
              <a:buNone/>
            </a:pPr>
            <a:r>
              <a:rPr>
                <a:solidFill>
                  <a:srgbClr val="06287E"/>
                </a:solidFill>
                <a:latin typeface="Courier"/>
              </a:rPr>
              <a:t>cat</a:t>
            </a:r>
            <a:r>
              <a:rPr>
                <a:latin typeface="Courier"/>
              </a:rPr>
              <a:t>(</a:t>
            </a:r>
            <a:r>
              <a:rPr>
                <a:solidFill>
                  <a:srgbClr val="4070A0"/>
                </a:solidFill>
                <a:latin typeface="Courier"/>
              </a:rPr>
              <a:t>"Actual medianlysis: 0.5276\n"</a:t>
            </a:r>
            <a:r>
              <a:rPr>
                <a:latin typeface="Courier"/>
              </a:rPr>
              <a:t>)</a:t>
            </a:r>
          </a:p>
          <a:p>
            <a:pPr lvl="0" indent="0">
              <a:buNone/>
            </a:pPr>
            <a:r>
              <a:rPr>
                <a:latin typeface="Courier"/>
              </a:rPr>
              <a:t>## Actual medianlysis: 0.5276</a:t>
            </a:r>
          </a:p>
          <a:p>
            <a:pPr lvl="0" indent="0">
              <a:buNone/>
            </a:pPr>
            <a:r>
              <a:rPr>
                <a:solidFill>
                  <a:srgbClr val="06287E"/>
                </a:solidFill>
                <a:latin typeface="Courier"/>
              </a:rPr>
              <a:t>cat</a:t>
            </a:r>
            <a:r>
              <a:rPr>
                <a:latin typeface="Courier"/>
              </a:rPr>
              <a:t>(</a:t>
            </a:r>
            <a:r>
              <a:rPr>
                <a:solidFill>
                  <a:srgbClr val="4070A0"/>
                </a:solidFill>
                <a:latin typeface="Courier"/>
              </a:rPr>
              <a:t>"Difference:"</a:t>
            </a:r>
            <a:r>
              <a:rPr>
                <a:latin typeface="Courier"/>
              </a:rPr>
              <a:t>, </a:t>
            </a:r>
            <a:r>
              <a:rPr>
                <a:solidFill>
                  <a:srgbClr val="06287E"/>
                </a:solidFill>
                <a:latin typeface="Courier"/>
              </a:rPr>
              <a:t>abs</a:t>
            </a:r>
            <a:r>
              <a:rPr>
                <a:latin typeface="Courier"/>
              </a:rPr>
              <a:t>(</a:t>
            </a:r>
            <a:r>
              <a:rPr>
                <a:solidFill>
                  <a:srgbClr val="40A070"/>
                </a:solidFill>
                <a:latin typeface="Courier"/>
              </a:rPr>
              <a:t>0.5276</a:t>
            </a:r>
            <a:r>
              <a:rPr>
                <a:solidFill>
                  <a:srgbClr val="4070A0"/>
                </a:solidFill>
                <a:latin typeface="Courier"/>
              </a:rPr>
              <a:t>-</a:t>
            </a:r>
            <a:r>
              <a:rPr>
                <a:latin typeface="Courier"/>
              </a:rPr>
              <a:t> predicted_medianlysis), </a:t>
            </a:r>
            <a:r>
              <a:rPr>
                <a:solidFill>
                  <a:srgbClr val="4070A0"/>
                </a:solidFill>
                <a:latin typeface="Courier"/>
              </a:rPr>
              <a:t>"\n"</a:t>
            </a:r>
            <a:r>
              <a:rPr>
                <a:latin typeface="Courier"/>
              </a:rPr>
              <a:t>)</a:t>
            </a:r>
          </a:p>
          <a:p>
            <a:pPr lvl="0" indent="0">
              <a:buNone/>
            </a:pPr>
            <a:r>
              <a:rPr>
                <a:latin typeface="Courier"/>
              </a:rPr>
              <a:t>## Difference: 0.02612132</a:t>
            </a:r>
          </a:p>
          <a:p>
            <a:pPr lvl="0" indent="0">
              <a:buNone/>
            </a:pPr>
            <a:r>
              <a:rPr i="1">
                <a:solidFill>
                  <a:srgbClr val="60A0B0"/>
                </a:solidFill>
                <a:latin typeface="Courier"/>
              </a:rPr>
              <a:t># A bad prediction that destroys Confidence</a:t>
            </a:r>
            <a:br/>
            <a:br/>
            <a:br/>
            <a:r>
              <a:rPr i="1">
                <a:solidFill>
                  <a:srgbClr val="60A0B0"/>
                </a:solidFill>
                <a:latin typeface="Courier"/>
              </a:rPr>
              <a:t># Observation 25 values from the CSV:</a:t>
            </a:r>
            <a:br/>
            <a:r>
              <a:rPr i="1">
                <a:solidFill>
                  <a:srgbClr val="60A0B0"/>
                </a:solidFill>
                <a:latin typeface="Courier"/>
              </a:rPr>
              <a:t># Snap.Proportion: 0.6667</a:t>
            </a:r>
            <a:br/>
            <a:r>
              <a:rPr i="1">
                <a:solidFill>
                  <a:srgbClr val="60A0B0"/>
                </a:solidFill>
                <a:latin typeface="Courier"/>
              </a:rPr>
              <a:t># ktPAon: 0.1</a:t>
            </a:r>
            <a:br/>
            <a:r>
              <a:rPr i="1">
                <a:solidFill>
                  <a:srgbClr val="60A0B0"/>
                </a:solidFill>
                <a:latin typeface="Courier"/>
              </a:rPr>
              <a:t># kplioff: 57.6</a:t>
            </a:r>
            <a:br/>
            <a:r>
              <a:rPr i="1">
                <a:solidFill>
                  <a:srgbClr val="60A0B0"/>
                </a:solidFill>
                <a:latin typeface="Courier"/>
              </a:rPr>
              <a:t># kplgon: 0.1</a:t>
            </a:r>
            <a:br/>
            <a:r>
              <a:rPr i="1">
                <a:solidFill>
                  <a:srgbClr val="60A0B0"/>
                </a:solidFill>
                <a:latin typeface="Courier"/>
              </a:rPr>
              <a:t># KdtPAnoplg: 0.036</a:t>
            </a:r>
            <a:br/>
            <a:r>
              <a:rPr i="1">
                <a:solidFill>
                  <a:srgbClr val="60A0B0"/>
                </a:solidFill>
                <a:latin typeface="Courier"/>
              </a:rPr>
              <a:t># kdeg.and.kncat: 5</a:t>
            </a:r>
            <a:br/>
            <a:r>
              <a:rPr i="1">
                <a:solidFill>
                  <a:srgbClr val="60A0B0"/>
                </a:solidFill>
                <a:latin typeface="Courier"/>
              </a:rPr>
              <a:t># Actual medianlysis: 1.606</a:t>
            </a:r>
            <a:br/>
            <a:br/>
            <a:br/>
            <a:r>
              <a:rPr>
                <a:latin typeface="Courier"/>
              </a:rPr>
              <a:t>new_data </a:t>
            </a:r>
            <a:r>
              <a:rPr>
                <a:solidFill>
                  <a:srgbClr val="007020"/>
                </a:solidFill>
                <a:latin typeface="Courier"/>
              </a:rPr>
              <a:t>&lt;-</a:t>
            </a:r>
            <a:r>
              <a:rPr>
                <a:latin typeface="Courier"/>
              </a:rPr>
              <a:t> </a:t>
            </a:r>
            <a:r>
              <a:rPr>
                <a:solidFill>
                  <a:srgbClr val="06287E"/>
                </a:solidFill>
                <a:latin typeface="Courier"/>
              </a:rPr>
              <a:t>data.frame</a:t>
            </a:r>
            <a:r>
              <a:rPr>
                <a:latin typeface="Courier"/>
              </a:rPr>
              <a:t>(</a:t>
            </a:r>
            <a:br/>
            <a:r>
              <a:rPr>
                <a:solidFill>
                  <a:srgbClr val="7D9029"/>
                </a:solidFill>
                <a:latin typeface="Courier"/>
              </a:rPr>
              <a:t>kdeg_kncat_log =</a:t>
            </a:r>
            <a:r>
              <a:rPr>
                <a:latin typeface="Courier"/>
              </a:rPr>
              <a:t> </a:t>
            </a:r>
            <a:r>
              <a:rPr>
                <a:solidFill>
                  <a:srgbClr val="06287E"/>
                </a:solidFill>
                <a:latin typeface="Courier"/>
              </a:rPr>
              <a:t>log</a:t>
            </a:r>
            <a:r>
              <a:rPr>
                <a:latin typeface="Courier"/>
              </a:rPr>
              <a:t>(</a:t>
            </a:r>
            <a:r>
              <a:rPr>
                <a:solidFill>
                  <a:srgbClr val="40A070"/>
                </a:solidFill>
                <a:latin typeface="Courier"/>
              </a:rPr>
              <a:t>5</a:t>
            </a:r>
            <a:r>
              <a:rPr>
                <a:latin typeface="Courier"/>
              </a:rPr>
              <a:t>),</a:t>
            </a:r>
            <a:br/>
            <a:r>
              <a:rPr>
                <a:solidFill>
                  <a:srgbClr val="7D9029"/>
                </a:solidFill>
                <a:latin typeface="Courier"/>
              </a:rPr>
              <a:t>kplioff_log =</a:t>
            </a:r>
            <a:r>
              <a:rPr>
                <a:latin typeface="Courier"/>
              </a:rPr>
              <a:t> </a:t>
            </a:r>
            <a:r>
              <a:rPr>
                <a:solidFill>
                  <a:srgbClr val="06287E"/>
                </a:solidFill>
                <a:latin typeface="Courier"/>
              </a:rPr>
              <a:t>log</a:t>
            </a:r>
            <a:r>
              <a:rPr>
                <a:latin typeface="Courier"/>
              </a:rPr>
              <a:t>(</a:t>
            </a:r>
            <a:r>
              <a:rPr>
                <a:solidFill>
                  <a:srgbClr val="40A070"/>
                </a:solidFill>
                <a:latin typeface="Courier"/>
              </a:rPr>
              <a:t>57.6</a:t>
            </a:r>
            <a:r>
              <a:rPr>
                <a:latin typeface="Courier"/>
              </a:rPr>
              <a:t>),</a:t>
            </a:r>
            <a:br/>
            <a:r>
              <a:rPr>
                <a:solidFill>
                  <a:srgbClr val="7D9029"/>
                </a:solidFill>
                <a:latin typeface="Courier"/>
              </a:rPr>
              <a:t>Snap.Proportion =</a:t>
            </a:r>
            <a:r>
              <a:rPr>
                <a:latin typeface="Courier"/>
              </a:rPr>
              <a:t> </a:t>
            </a:r>
            <a:r>
              <a:rPr>
                <a:solidFill>
                  <a:srgbClr val="40A070"/>
                </a:solidFill>
                <a:latin typeface="Courier"/>
              </a:rPr>
              <a:t>0.6667</a:t>
            </a:r>
            <a:r>
              <a:rPr>
                <a:latin typeface="Courier"/>
              </a:rPr>
              <a:t>,</a:t>
            </a:r>
            <a:br/>
            <a:r>
              <a:rPr>
                <a:solidFill>
                  <a:srgbClr val="7D9029"/>
                </a:solidFill>
                <a:latin typeface="Courier"/>
              </a:rPr>
              <a:t>ktPAon_log =</a:t>
            </a:r>
            <a:r>
              <a:rPr>
                <a:latin typeface="Courier"/>
              </a:rPr>
              <a:t> </a:t>
            </a:r>
            <a:r>
              <a:rPr>
                <a:solidFill>
                  <a:srgbClr val="06287E"/>
                </a:solidFill>
                <a:latin typeface="Courier"/>
              </a:rPr>
              <a:t>log</a:t>
            </a:r>
            <a:r>
              <a:rPr>
                <a:latin typeface="Courier"/>
              </a:rPr>
              <a:t>(</a:t>
            </a:r>
            <a:r>
              <a:rPr>
                <a:solidFill>
                  <a:srgbClr val="40A070"/>
                </a:solidFill>
                <a:latin typeface="Courier"/>
              </a:rPr>
              <a:t>0.1</a:t>
            </a:r>
            <a:r>
              <a:rPr>
                <a:latin typeface="Courier"/>
              </a:rPr>
              <a:t>),</a:t>
            </a:r>
            <a:br/>
            <a:r>
              <a:rPr>
                <a:solidFill>
                  <a:srgbClr val="7D9029"/>
                </a:solidFill>
                <a:latin typeface="Courier"/>
              </a:rPr>
              <a:t>KdtPAnoplg_log =</a:t>
            </a:r>
            <a:r>
              <a:rPr>
                <a:latin typeface="Courier"/>
              </a:rPr>
              <a:t> </a:t>
            </a:r>
            <a:r>
              <a:rPr>
                <a:solidFill>
                  <a:srgbClr val="06287E"/>
                </a:solidFill>
                <a:latin typeface="Courier"/>
              </a:rPr>
              <a:t>log</a:t>
            </a:r>
            <a:r>
              <a:rPr>
                <a:latin typeface="Courier"/>
              </a:rPr>
              <a:t>(</a:t>
            </a:r>
            <a:r>
              <a:rPr>
                <a:solidFill>
                  <a:srgbClr val="40A070"/>
                </a:solidFill>
                <a:latin typeface="Courier"/>
              </a:rPr>
              <a:t>0.036</a:t>
            </a:r>
            <a:r>
              <a:rPr>
                <a:latin typeface="Courier"/>
              </a:rPr>
              <a:t>),</a:t>
            </a:r>
            <a:br/>
            <a:r>
              <a:rPr>
                <a:solidFill>
                  <a:srgbClr val="7D9029"/>
                </a:solidFill>
                <a:latin typeface="Courier"/>
              </a:rPr>
              <a:t>kplgon_log =</a:t>
            </a:r>
            <a:r>
              <a:rPr>
                <a:latin typeface="Courier"/>
              </a:rPr>
              <a:t> </a:t>
            </a:r>
            <a:r>
              <a:rPr>
                <a:solidFill>
                  <a:srgbClr val="06287E"/>
                </a:solidFill>
                <a:latin typeface="Courier"/>
              </a:rPr>
              <a:t>log</a:t>
            </a:r>
            <a:r>
              <a:rPr>
                <a:latin typeface="Courier"/>
              </a:rPr>
              <a:t>(</a:t>
            </a:r>
            <a:r>
              <a:rPr>
                <a:solidFill>
                  <a:srgbClr val="40A070"/>
                </a:solidFill>
                <a:latin typeface="Courier"/>
              </a:rPr>
              <a:t>0.1</a:t>
            </a:r>
            <a:r>
              <a:rPr>
                <a:latin typeface="Courier"/>
              </a:rPr>
              <a:t>)</a:t>
            </a:r>
            <a:br/>
            <a:r>
              <a:rPr>
                <a:latin typeface="Courier"/>
              </a:rPr>
              <a:t>)</a:t>
            </a:r>
            <a:br/>
            <a:br/>
            <a:br/>
            <a:r>
              <a:rPr>
                <a:latin typeface="Courier"/>
              </a:rPr>
              <a:t>predicted_reciprocal</a:t>
            </a:r>
            <a:r>
              <a:rPr>
                <a:solidFill>
                  <a:srgbClr val="007020"/>
                </a:solidFill>
                <a:latin typeface="Courier"/>
              </a:rPr>
              <a:t>&lt;-</a:t>
            </a:r>
            <a:r>
              <a:rPr>
                <a:latin typeface="Courier"/>
              </a:rPr>
              <a:t> </a:t>
            </a:r>
            <a:r>
              <a:rPr>
                <a:solidFill>
                  <a:srgbClr val="06287E"/>
                </a:solidFill>
                <a:latin typeface="Courier"/>
              </a:rPr>
              <a:t>predict</a:t>
            </a:r>
            <a:r>
              <a:rPr>
                <a:latin typeface="Courier"/>
              </a:rPr>
              <a:t>(best_model, </a:t>
            </a:r>
            <a:r>
              <a:rPr>
                <a:solidFill>
                  <a:srgbClr val="7D9029"/>
                </a:solidFill>
                <a:latin typeface="Courier"/>
              </a:rPr>
              <a:t>newdata =</a:t>
            </a:r>
            <a:r>
              <a:rPr>
                <a:latin typeface="Courier"/>
              </a:rPr>
              <a:t> new_data)</a:t>
            </a:r>
            <a:br/>
            <a:br/>
            <a:br/>
            <a:r>
              <a:rPr>
                <a:latin typeface="Courier"/>
              </a:rPr>
              <a:t>predicted_medianlysis</a:t>
            </a:r>
            <a:r>
              <a:rPr>
                <a:solidFill>
                  <a:srgbClr val="007020"/>
                </a:solidFill>
                <a:latin typeface="Courier"/>
              </a:rPr>
              <a:t>&lt;-</a:t>
            </a:r>
            <a:r>
              <a:rPr>
                <a:latin typeface="Courier"/>
              </a:rPr>
              <a:t> </a:t>
            </a:r>
            <a:r>
              <a:rPr>
                <a:solidFill>
                  <a:srgbClr val="40A070"/>
                </a:solidFill>
                <a:latin typeface="Courier"/>
              </a:rPr>
              <a:t>1</a:t>
            </a:r>
            <a:r>
              <a:rPr>
                <a:latin typeface="Courier"/>
              </a:rPr>
              <a:t> </a:t>
            </a:r>
            <a:r>
              <a:rPr>
                <a:solidFill>
                  <a:srgbClr val="4070A0"/>
                </a:solidFill>
                <a:latin typeface="Courier"/>
              </a:rPr>
              <a:t>/</a:t>
            </a:r>
            <a:r>
              <a:rPr>
                <a:latin typeface="Courier"/>
              </a:rPr>
              <a:t> predicted_reciprocal</a:t>
            </a:r>
            <a:br/>
            <a:br/>
            <a:br/>
            <a:r>
              <a:rPr>
                <a:solidFill>
                  <a:srgbClr val="06287E"/>
                </a:solidFill>
                <a:latin typeface="Courier"/>
              </a:rPr>
              <a:t>cat</a:t>
            </a:r>
            <a:r>
              <a:rPr>
                <a:latin typeface="Courier"/>
              </a:rPr>
              <a:t>(</a:t>
            </a:r>
            <a:r>
              <a:rPr>
                <a:solidFill>
                  <a:srgbClr val="4070A0"/>
                </a:solidFill>
                <a:latin typeface="Courier"/>
              </a:rPr>
              <a:t>"Predicted medianlysis:"</a:t>
            </a:r>
            <a:r>
              <a:rPr>
                <a:latin typeface="Courier"/>
              </a:rPr>
              <a:t>, predicted_medianlysis, </a:t>
            </a:r>
            <a:r>
              <a:rPr>
                <a:solidFill>
                  <a:srgbClr val="4070A0"/>
                </a:solidFill>
                <a:latin typeface="Courier"/>
              </a:rPr>
              <a:t>"\n"</a:t>
            </a:r>
            <a:r>
              <a:rPr>
                <a:latin typeface="Courier"/>
              </a:rPr>
              <a:t>)</a:t>
            </a:r>
          </a:p>
          <a:p>
            <a:pPr lvl="0" indent="0">
              <a:buNone/>
            </a:pPr>
            <a:r>
              <a:rPr>
                <a:latin typeface="Courier"/>
              </a:rPr>
              <a:t>## Predicted medianlysis: 1.168612</a:t>
            </a:r>
          </a:p>
          <a:p>
            <a:pPr lvl="0" indent="0">
              <a:buNone/>
            </a:pPr>
            <a:r>
              <a:rPr>
                <a:solidFill>
                  <a:srgbClr val="06287E"/>
                </a:solidFill>
                <a:latin typeface="Courier"/>
              </a:rPr>
              <a:t>cat</a:t>
            </a:r>
            <a:r>
              <a:rPr>
                <a:latin typeface="Courier"/>
              </a:rPr>
              <a:t>(</a:t>
            </a:r>
            <a:r>
              <a:rPr>
                <a:solidFill>
                  <a:srgbClr val="4070A0"/>
                </a:solidFill>
                <a:latin typeface="Courier"/>
              </a:rPr>
              <a:t>"Actual medianlysis: 1.606\n"</a:t>
            </a:r>
            <a:r>
              <a:rPr>
                <a:latin typeface="Courier"/>
              </a:rPr>
              <a:t>)</a:t>
            </a:r>
          </a:p>
          <a:p>
            <a:pPr lvl="0" indent="0">
              <a:buNone/>
            </a:pPr>
            <a:r>
              <a:rPr>
                <a:latin typeface="Courier"/>
              </a:rPr>
              <a:t>## Actual medianlysis: 1.606</a:t>
            </a:r>
          </a:p>
          <a:p>
            <a:pPr lvl="0" indent="0">
              <a:buNone/>
            </a:pPr>
            <a:r>
              <a:rPr>
                <a:solidFill>
                  <a:srgbClr val="06287E"/>
                </a:solidFill>
                <a:latin typeface="Courier"/>
              </a:rPr>
              <a:t>cat</a:t>
            </a:r>
            <a:r>
              <a:rPr>
                <a:latin typeface="Courier"/>
              </a:rPr>
              <a:t>(</a:t>
            </a:r>
            <a:r>
              <a:rPr>
                <a:solidFill>
                  <a:srgbClr val="4070A0"/>
                </a:solidFill>
                <a:latin typeface="Courier"/>
              </a:rPr>
              <a:t>"Difference:"</a:t>
            </a:r>
            <a:r>
              <a:rPr>
                <a:latin typeface="Courier"/>
              </a:rPr>
              <a:t>, </a:t>
            </a:r>
            <a:r>
              <a:rPr>
                <a:solidFill>
                  <a:srgbClr val="06287E"/>
                </a:solidFill>
                <a:latin typeface="Courier"/>
              </a:rPr>
              <a:t>abs</a:t>
            </a:r>
            <a:r>
              <a:rPr>
                <a:latin typeface="Courier"/>
              </a:rPr>
              <a:t>(</a:t>
            </a:r>
            <a:r>
              <a:rPr>
                <a:solidFill>
                  <a:srgbClr val="40A070"/>
                </a:solidFill>
                <a:latin typeface="Courier"/>
              </a:rPr>
              <a:t>1.606</a:t>
            </a:r>
            <a:r>
              <a:rPr>
                <a:solidFill>
                  <a:srgbClr val="4070A0"/>
                </a:solidFill>
                <a:latin typeface="Courier"/>
              </a:rPr>
              <a:t>-</a:t>
            </a:r>
            <a:r>
              <a:rPr>
                <a:latin typeface="Courier"/>
              </a:rPr>
              <a:t> predicted_medianlysis), </a:t>
            </a:r>
            <a:r>
              <a:rPr>
                <a:solidFill>
                  <a:srgbClr val="4070A0"/>
                </a:solidFill>
                <a:latin typeface="Courier"/>
              </a:rPr>
              <a:t>"\n"</a:t>
            </a:r>
            <a:r>
              <a:rPr>
                <a:latin typeface="Courier"/>
              </a:rPr>
              <a:t>)</a:t>
            </a:r>
          </a:p>
          <a:p>
            <a:pPr lvl="0" indent="0">
              <a:buNone/>
            </a:pPr>
            <a:r>
              <a:rPr>
                <a:latin typeface="Courier"/>
              </a:rPr>
              <a:t>## Difference: 0.4373876</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Fibrinolysis_Regression</dc:title>
  <dc:creator>Kamal Mandava</dc:creator>
  <cp:keywords/>
  <dcterms:created xsi:type="dcterms:W3CDTF">2025-12-17T12:27:31Z</dcterms:created>
  <dcterms:modified xsi:type="dcterms:W3CDTF">2025-12-17T12:27:31Z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utput">
    <vt:lpwstr/>
  </property>
</Properties>
</file>